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29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Platform  |  Modernization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7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sequential foundation → capability → platform delivery; each phase de-risks the next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10515600" cy="0"/>
          </a:xfrm>
          <a:prstGeom prst="line">
            <a:avLst/>
          </a:prstGeom>
          <a:noFill/>
          <a:ln w="15875">
            <a:solidFill>
              <a:srgbClr val="3A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74920" y="137160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39"/>
            <a:ext cx="3474720" cy="3337561"/>
          </a:xfrm>
          <a:prstGeom prst="roundRect">
            <a:avLst>
              <a:gd name="adj" fmla="val 4058"/>
            </a:avLst>
          </a:prstGeom>
          <a:solidFill>
            <a:srgbClr val="F5F1E8"/>
          </a:solidFill>
          <a:ln w="9525">
            <a:solidFill>
              <a:srgbClr val="E4DFD3"/>
            </a:solidFill>
            <a:prstDash val="solid"/>
          </a:ln>
          <a:effectLst>
            <a:outerShdw blurRad="1778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256510"/>
            <a:ext cx="724791" cy="742722"/>
          </a:xfrm>
          <a:prstGeom prst="ellipse">
            <a:avLst/>
          </a:prstGeom>
          <a:solidFill>
            <a:srgbClr val="3A8A8A"/>
          </a:solidFill>
          <a:ln w="12700">
            <a:solidFill>
              <a:srgbClr val="3A8A8A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402814"/>
            <a:ext cx="478643" cy="47864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7240" y="315444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Micro Service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77240" y="3475729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— a fast, resilient event backbone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5657" y="3811657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10–100× faster event queries at peak volume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recovery for failed messages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Indexed, partitioned store built for regulatory scale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everything downstream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43400" y="2148840"/>
            <a:ext cx="3474720" cy="3337560"/>
          </a:xfrm>
          <a:prstGeom prst="roundRect">
            <a:avLst>
              <a:gd name="adj" fmla="val 4058"/>
            </a:avLst>
          </a:prstGeom>
          <a:solidFill>
            <a:srgbClr val="F5F1E8"/>
          </a:solidFill>
          <a:ln w="9525">
            <a:solidFill>
              <a:srgbClr val="E4DFD3"/>
            </a:solidFill>
            <a:prstDash val="solid"/>
          </a:ln>
          <a:effectLst>
            <a:outerShdw blurRad="1778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74009" y="2286000"/>
            <a:ext cx="676656" cy="658368"/>
          </a:xfrm>
          <a:prstGeom prst="ellipse">
            <a:avLst/>
          </a:prstGeom>
          <a:solidFill>
            <a:srgbClr val="3A8A8A"/>
          </a:solidFill>
          <a:ln w="12700">
            <a:solidFill>
              <a:srgbClr val="3A8A8A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313" y="2432304"/>
            <a:ext cx="436067" cy="43606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17720" y="305965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4572000" y="343258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— one source of truth for routing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0" y="3793354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reduction in system waste per event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auditable rulebook replaces two systems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into every routing decision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Q3 foundation, validated in shadow first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138160" y="2148839"/>
            <a:ext cx="3474720" cy="3337560"/>
          </a:xfrm>
          <a:prstGeom prst="roundRect">
            <a:avLst>
              <a:gd name="adj" fmla="val 4058"/>
            </a:avLst>
          </a:prstGeom>
          <a:solidFill>
            <a:srgbClr val="F5F1E8"/>
          </a:solidFill>
          <a:ln w="9525">
            <a:solidFill>
              <a:srgbClr val="E4DFD3"/>
            </a:solidFill>
            <a:prstDash val="solid"/>
          </a:ln>
          <a:effectLst>
            <a:outerShdw blurRad="1778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79968" y="2314737"/>
            <a:ext cx="530352" cy="530352"/>
          </a:xfrm>
          <a:prstGeom prst="ellipse">
            <a:avLst/>
          </a:prstGeom>
          <a:solidFill>
            <a:srgbClr val="3A8A8A"/>
          </a:solidFill>
          <a:ln w="12700">
            <a:solidFill>
              <a:srgbClr val="3A8A8A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984" y="2442753"/>
            <a:ext cx="324104" cy="32410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9175496" y="2314737"/>
            <a:ext cx="530352" cy="530352"/>
          </a:xfrm>
          <a:prstGeom prst="ellipse">
            <a:avLst/>
          </a:prstGeom>
          <a:solidFill>
            <a:srgbClr val="3A8A8A"/>
          </a:solidFill>
          <a:ln w="12700">
            <a:solidFill>
              <a:srgbClr val="3A8A8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512" y="2442753"/>
            <a:ext cx="324104" cy="32410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969756" y="2280932"/>
            <a:ext cx="13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8321040" y="2985517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Framework + Airflow 3.x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8339328" y="3389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— modern foundation, co-delivered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379968" y="3743023"/>
            <a:ext cx="28346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workflow authoring; faster engineer onboarding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typed configuration prevents runtime surprises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Vendor-supported platform for the next 3–5 years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Co-delivery avoids touching 100+ DAGs twice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398853" y="55794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96240" y="5892932"/>
            <a:ext cx="109728" cy="109728"/>
          </a:xfrm>
          <a:prstGeom prst="ellipse">
            <a:avLst/>
          </a:prstGeom>
          <a:solidFill>
            <a:srgbClr val="3A8A8A"/>
          </a:solidFill>
          <a:ln w="12700">
            <a:solidFill>
              <a:srgbClr val="3A8A8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97408" y="5819780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month-end incidents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12064" y="6101977"/>
            <a:ext cx="3425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state fragility architecturally removed — the class of stall behind our worst month-end incidents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337304" y="5906015"/>
            <a:ext cx="109728" cy="109728"/>
          </a:xfrm>
          <a:prstGeom prst="ellipse">
            <a:avLst/>
          </a:prstGeom>
          <a:solidFill>
            <a:srgbClr val="3A8A8A"/>
          </a:solidFill>
          <a:ln w="12700">
            <a:solidFill>
              <a:srgbClr val="3A8A8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538472" y="5832863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silent routing failures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4437888" y="6128578"/>
            <a:ext cx="3425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auditable rulebook; every routing decision logged and queryable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8138160" y="5878602"/>
            <a:ext cx="109728" cy="109728"/>
          </a:xfrm>
          <a:prstGeom prst="ellipse">
            <a:avLst/>
          </a:prstGeom>
          <a:solidFill>
            <a:srgbClr val="3A8A8A"/>
          </a:solidFill>
          <a:ln w="12700">
            <a:solidFill>
              <a:srgbClr val="3A8A8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339328" y="5805450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for growing regulatory workload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8278368" y="6097515"/>
            <a:ext cx="3425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event store + partitioning; sensor stalls under load are designed out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 </a:t>
            </a:r>
            <a:r>
              <a:rPr lang="en-US" sz="1050" b="1" dirty="0">
                <a:solidFill>
                  <a:srgbClr val="3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reporting cycles   ·   Higher reliability on regulatory deadlines   ·   Lower run-cost per event   ·   Independently deployable, low-risk delivery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227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Suryakant Routray</cp:lastModifiedBy>
  <cp:revision>3</cp:revision>
  <dcterms:created xsi:type="dcterms:W3CDTF">2026-07-12T02:17:04Z</dcterms:created>
  <dcterms:modified xsi:type="dcterms:W3CDTF">2026-07-12T02:41:12Z</dcterms:modified>
</cp:coreProperties>
</file>