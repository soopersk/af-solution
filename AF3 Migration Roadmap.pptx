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target go-live is the three-day weekend of Jan 16-18, 2027 (Monday Jan 18 is a US holiday). If the go/no-go on Jan 13 fails, the fallback weekends are Jan 23-24 and Feb 6-7; Jan 30-31 is month-end and is avoided. Why this is realistic: the work runs in two-week iterations and UAT sign-off by all three teams is planned to finish on Dec 18, before the year-end freeze and holidays. The 17 working days between Dec 21 and Jan 15 are held as contingency for any testing that overruns, for leave and for final checks. The year-end freeze (Dec 15-31) means no production change in that window, so iteration 6 starts on Jan 4. Rollback: v2 and its database stay untouched and idle until retired, so rolling back means stopping v3 and restarting v2. The target is under 30 minutes, rehearsed in QA, Dev and UAT before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left to right. Each column is a two-week iteration. The QA environment is new and is built in iteration 1, so the first migration run never touches the shared Dev environment. Iteration 2 builds the Airflow 3 image and Helm design and runs the QA migration and rollback tests. Dev is cut over in iteration 3 and UAT in iteration 4, each in a short announced window with a rollback test. LnF signs off its DAGs in iteration 4 and Capital and PnL in iteration 5. Production infrastructure and the runbook are ready before the Dec 15 freeze (infra only, no traffic). Dec 21-Jan 3 is deliberately empty: it is the year-end freeze and holidays, and it is the buffer for any testing that overruns. Iteration 6 is final checks with go/no-go on Jan 13 and the go-live weekend Jan 16-18. Hypercare runs from Jan 19 with Airflow 2 on standby.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iteration has one exit gate. Re-baselining happens at the end of every iteration, so the first review on Oct 23 confirms the Python 3.14 decision and the DAG scan results. Database migration: in every environment it is done on a clone of the Airflow 2 database, never on the original. The steps are: clone the v2 database (over a direct connection, not the connection pooler), trim old run history, run the Airflow 3.3.2 database migration, validate, and time it. The plan is a direct upgrade from 2.10.5 to 3.3.2; the QA migration in iteration 2 proves that, and only if it fails is an intermediate 2.11 step added, on the clone only. QA, Dev and UAT each repeat the same steps so the timing is known before production. Iteration 5 is where the production work happens before the Dec 15 freeze: production infrastructure and the timed migration rehearsal on a copy of the production database are planned for Dec 7-11, because new production changes stop on Dec 15. Whether infrastructure work and a read-only database clone are allowed during the freeze needs to be confirmed with change management. On go-live weekend the production database is cloned and migrated again, and the Airflow 2 database stays untouched, so rollback means stopping v3 and restarting v2. Production stays on Airflow 2 until the go-live weekend.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is 7 engineers at 80%, which is 5.6 FTE, times the working days in each iteration (10, or 8 in iteration 4 because of Nov 26-27). Leave of one week per person (about 28 person-days) is assumed to fall in Dec 21-Jan 1; leave taken earlier reduces the iteration it falls in. Load: the estimates for the five readiness items (7, 5, 3, 5 and 5 days) come from the team; the estimates for the other items are planning figures (QA environment 45, QA migration test 30, QA rollback 10, Dev infrastructure 12, Dev cutover 15 and rollback 8, UAT infrastructure 10, UAT cutover 12 and rollback 6, LnF sign-off support 10, Capital and PnL support 14, production infrastructure 15, runbook 10, prod-clone rehearsal 10, final checks 5, deployment 14, hypercare 16, DAG-fix support 15, dual-version CI 6, test plan 4, program management 3 per iteration) and should be replaced with the team estimates. Iteration 2 is the pinch: the image, Helm design, QA migration and rollback tests and Dev infrastructure all land in the same two weeks. Total planned demand through Dec 18 is 272 days against 268.8 of capacity (101%), so contingency sits in Dec 21-Jan 15: about 11 usable days in the year-end gap plus about 34 unused days in iteration 6, roughly 45 days or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risks most likely to move the date. The first two are decided early: the Python 3.14 decision is due at the end of iteration 1 (Oct 23), and the QA environment has to be built in two weeks, which is only possible if every infrastructure request goes in before the Oct 12 kickoff. Iterations 1 and 2 are over capacity in the planning estimates (see the capacity slide); the mitigation is to borrow BAU time or let two items run into iteration 3, which has room. UAT sign-off by LnF has four working days after the Thanksgiving holidays, so testers need to be named early. The production freeze starts Dec 15, so production infrastructure and the clone rehearsal are planned for Dec 7-11. The last row is the main reassurance for production: Airflow 2 and its database are never modified.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management wants an earlier date, there is little room: sign-off by all three teams is already planned to finish on Dec 18, and the production freeze starts Dec 15. The only earlier option is the weekend of Jan 9-10, which would leave just three working days after the break for go/no-go and no overflow buffer; we do not recommend it. The assumptions on the right are the ones that would move the dates if they turn out wrong; the most sensitive are the start date, the QA environment being ready at the end of iteration 1, and the Python 3.14 check. Phase 2 (faster DAG storage and remote logging) is deliberately outside this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2" y="812752"/>
            <a:ext cx="10566495" cy="408962"/>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52" y="1526514"/>
            <a:ext cx="10566448" cy="4518686"/>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2" y="812752"/>
            <a:ext cx="10566495" cy="408962"/>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52" y="1526514"/>
            <a:ext cx="10566448" cy="4518686"/>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752" y="812752"/>
            <a:ext cx="10883490" cy="274289"/>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B04A"/>
                </a:solidFill>
                <a:latin typeface="Arial" pitchFamily="34" charset="0"/>
                <a:ea typeface="Arial" pitchFamily="34" charset="-122"/>
                <a:cs typeface="Arial" pitchFamily="34" charset="-120"/>
              </a:rPr>
              <a:t>SENIOR MANAGEMENT UPDATE · OCTOBER 2026</a:t>
            </a:r>
            <a:endParaRPr lang="en-US" sz="1400" dirty="0"/>
          </a:p>
        </p:txBody>
      </p:sp>
      <p:sp>
        <p:nvSpPr>
          <p:cNvPr id="3" name="Text 1"/>
          <p:cNvSpPr/>
          <p:nvPr>
            <p:ph type="title"/>
          </p:nvPr>
        </p:nvSpPr>
        <p:spPr>
          <a:xfrm>
            <a:off x="812752" y="1717206"/>
            <a:ext cx="10883490" cy="125475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7F6F2"/>
                </a:solidFill>
                <a:latin typeface="Arial" pitchFamily="34" charset="0"/>
                <a:ea typeface="Arial" pitchFamily="34" charset="-122"/>
                <a:cs typeface="Arial" pitchFamily="34" charset="-120"/>
              </a:rPr>
              <a:t>Airflow 3.3.2</a:t>
            </a:r>
            <a:endParaRPr lang="en-US" sz="4400" dirty="0"/>
          </a:p>
          <a:p>
            <a:pPr algn="l" indent="0" marL="0">
              <a:lnSpc>
                <a:spcPts val="4840"/>
              </a:lnSpc>
              <a:buNone/>
            </a:pPr>
            <a:r>
              <a:rPr lang="en-US" sz="4400" b="1" i="0" dirty="0">
                <a:solidFill>
                  <a:srgbClr val="F7F6F2"/>
                </a:solidFill>
                <a:latin typeface="Arial" pitchFamily="34" charset="0"/>
                <a:ea typeface="Arial" pitchFamily="34" charset="-122"/>
                <a:cs typeface="Arial" pitchFamily="34" charset="-120"/>
              </a:rPr>
              <a:t>migration roadmap</a:t>
            </a:r>
            <a:endParaRPr lang="en-US" sz="4400" dirty="0"/>
          </a:p>
        </p:txBody>
      </p:sp>
      <p:sp>
        <p:nvSpPr>
          <p:cNvPr id="4" name="Text 2"/>
          <p:cNvSpPr/>
          <p:nvPr/>
        </p:nvSpPr>
        <p:spPr>
          <a:xfrm>
            <a:off x="812752" y="3124308"/>
            <a:ext cx="10883490" cy="5231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E3"/>
                </a:solidFill>
                <a:latin typeface="Arial" pitchFamily="34" charset="0"/>
                <a:ea typeface="Arial" pitchFamily="34" charset="-122"/>
                <a:cs typeface="Arial" pitchFamily="34" charset="-120"/>
              </a:rPr>
              <a:t>Move the shared Airflow platform from 2.10.5 to 3.3.2 on Python 3.14 in two-week iterations. Every step is proven in a new QA environment first, then Dev and UAT, and every step can be rolled back.</a:t>
            </a:r>
            <a:endParaRPr lang="en-US" sz="1400" dirty="0"/>
          </a:p>
        </p:txBody>
      </p:sp>
      <p:sp>
        <p:nvSpPr>
          <p:cNvPr id="5" name="Shape 3"/>
          <p:cNvSpPr/>
          <p:nvPr/>
        </p:nvSpPr>
        <p:spPr>
          <a:xfrm>
            <a:off x="812752" y="4277590"/>
            <a:ext cx="2489188" cy="1564409"/>
          </a:xfrm>
          <a:prstGeom prst="roundRect">
            <a:avLst>
              <a:gd name="adj" fmla="val 6494"/>
            </a:avLst>
          </a:prstGeom>
          <a:solidFill>
            <a:srgbClr val="1E3160"/>
          </a:solidFill>
          <a:ln/>
        </p:spPr>
      </p:sp>
      <p:sp>
        <p:nvSpPr>
          <p:cNvPr id="6" name="Text 4"/>
          <p:cNvSpPr/>
          <p:nvPr/>
        </p:nvSpPr>
        <p:spPr>
          <a:xfrm>
            <a:off x="1015940" y="4480778"/>
            <a:ext cx="2145296" cy="23869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B04A"/>
                </a:solidFill>
                <a:latin typeface="Arial" pitchFamily="34" charset="0"/>
                <a:ea typeface="Arial" pitchFamily="34" charset="-122"/>
                <a:cs typeface="Arial" pitchFamily="34" charset="-120"/>
              </a:rPr>
              <a:t>Target go-live</a:t>
            </a:r>
            <a:endParaRPr lang="en-US" sz="1200" dirty="0"/>
          </a:p>
        </p:txBody>
      </p:sp>
      <p:sp>
        <p:nvSpPr>
          <p:cNvPr id="7" name="Text 5"/>
          <p:cNvSpPr/>
          <p:nvPr/>
        </p:nvSpPr>
        <p:spPr>
          <a:xfrm>
            <a:off x="1015940" y="4757569"/>
            <a:ext cx="2145296" cy="416562"/>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7F6F2"/>
                </a:solidFill>
                <a:latin typeface="Arial" pitchFamily="34" charset="0"/>
                <a:ea typeface="Arial" pitchFamily="34" charset="-122"/>
                <a:cs typeface="Arial" pitchFamily="34" charset="-120"/>
              </a:rPr>
              <a:t>Jan 16–18</a:t>
            </a:r>
            <a:endParaRPr lang="en-US" sz="2800" dirty="0"/>
          </a:p>
        </p:txBody>
      </p:sp>
      <p:sp>
        <p:nvSpPr>
          <p:cNvPr id="8" name="Text 6"/>
          <p:cNvSpPr/>
          <p:nvPr/>
        </p:nvSpPr>
        <p:spPr>
          <a:xfrm>
            <a:off x="1015940" y="5212231"/>
            <a:ext cx="2145296" cy="23869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3"/>
                </a:solidFill>
                <a:latin typeface="Arial" pitchFamily="34" charset="0"/>
                <a:ea typeface="Arial" pitchFamily="34" charset="-122"/>
                <a:cs typeface="Arial" pitchFamily="34" charset="-120"/>
              </a:rPr>
              <a:t>2027, three-day weekend</a:t>
            </a:r>
            <a:endParaRPr lang="en-US" sz="1200" dirty="0"/>
          </a:p>
        </p:txBody>
      </p:sp>
      <p:sp>
        <p:nvSpPr>
          <p:cNvPr id="9" name="Shape 7"/>
          <p:cNvSpPr/>
          <p:nvPr/>
        </p:nvSpPr>
        <p:spPr>
          <a:xfrm>
            <a:off x="3505128" y="4277590"/>
            <a:ext cx="2489248" cy="1564409"/>
          </a:xfrm>
          <a:prstGeom prst="roundRect">
            <a:avLst>
              <a:gd name="adj" fmla="val 6494"/>
            </a:avLst>
          </a:prstGeom>
          <a:solidFill>
            <a:srgbClr val="1E3160"/>
          </a:solidFill>
          <a:ln/>
        </p:spPr>
      </p:sp>
      <p:sp>
        <p:nvSpPr>
          <p:cNvPr id="10" name="Text 8"/>
          <p:cNvSpPr/>
          <p:nvPr/>
        </p:nvSpPr>
        <p:spPr>
          <a:xfrm>
            <a:off x="3708316" y="4480778"/>
            <a:ext cx="2145358" cy="23869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B04A"/>
                </a:solidFill>
                <a:latin typeface="Arial" pitchFamily="34" charset="0"/>
                <a:ea typeface="Arial" pitchFamily="34" charset="-122"/>
                <a:cs typeface="Arial" pitchFamily="34" charset="-120"/>
              </a:rPr>
              <a:t>Latest date</a:t>
            </a:r>
            <a:endParaRPr lang="en-US" sz="1200" dirty="0"/>
          </a:p>
        </p:txBody>
      </p:sp>
      <p:sp>
        <p:nvSpPr>
          <p:cNvPr id="11" name="Text 9"/>
          <p:cNvSpPr/>
          <p:nvPr/>
        </p:nvSpPr>
        <p:spPr>
          <a:xfrm>
            <a:off x="3708316" y="4757569"/>
            <a:ext cx="2145358" cy="416562"/>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7F6F2"/>
                </a:solidFill>
                <a:latin typeface="Arial" pitchFamily="34" charset="0"/>
                <a:ea typeface="Arial" pitchFamily="34" charset="-122"/>
                <a:cs typeface="Arial" pitchFamily="34" charset="-120"/>
              </a:rPr>
              <a:t>Feb 6–7</a:t>
            </a:r>
            <a:endParaRPr lang="en-US" sz="2800" dirty="0"/>
          </a:p>
        </p:txBody>
      </p:sp>
      <p:sp>
        <p:nvSpPr>
          <p:cNvPr id="12" name="Text 10"/>
          <p:cNvSpPr/>
          <p:nvPr/>
        </p:nvSpPr>
        <p:spPr>
          <a:xfrm>
            <a:off x="3708316" y="5212231"/>
            <a:ext cx="2145358" cy="23869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3"/>
                </a:solidFill>
                <a:latin typeface="Arial" pitchFamily="34" charset="0"/>
                <a:ea typeface="Arial" pitchFamily="34" charset="-122"/>
                <a:cs typeface="Arial" pitchFamily="34" charset="-120"/>
              </a:rPr>
              <a:t>Jan 23–24 is the first fallback</a:t>
            </a:r>
            <a:endParaRPr lang="en-US" sz="1200" dirty="0"/>
          </a:p>
        </p:txBody>
      </p:sp>
      <p:sp>
        <p:nvSpPr>
          <p:cNvPr id="13" name="Shape 11"/>
          <p:cNvSpPr/>
          <p:nvPr/>
        </p:nvSpPr>
        <p:spPr>
          <a:xfrm>
            <a:off x="6197564" y="4277590"/>
            <a:ext cx="2489248" cy="1564409"/>
          </a:xfrm>
          <a:prstGeom prst="roundRect">
            <a:avLst>
              <a:gd name="adj" fmla="val 6494"/>
            </a:avLst>
          </a:prstGeom>
          <a:solidFill>
            <a:srgbClr val="1E3160"/>
          </a:solidFill>
          <a:ln/>
        </p:spPr>
      </p:sp>
      <p:sp>
        <p:nvSpPr>
          <p:cNvPr id="14" name="Text 12"/>
          <p:cNvSpPr/>
          <p:nvPr/>
        </p:nvSpPr>
        <p:spPr>
          <a:xfrm>
            <a:off x="6400752" y="4480778"/>
            <a:ext cx="2145358" cy="23869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B04A"/>
                </a:solidFill>
                <a:latin typeface="Arial" pitchFamily="34" charset="0"/>
                <a:ea typeface="Arial" pitchFamily="34" charset="-122"/>
                <a:cs typeface="Arial" pitchFamily="34" charset="-120"/>
              </a:rPr>
              <a:t>Rollback</a:t>
            </a:r>
            <a:endParaRPr lang="en-US" sz="1200" dirty="0"/>
          </a:p>
        </p:txBody>
      </p:sp>
      <p:sp>
        <p:nvSpPr>
          <p:cNvPr id="15" name="Text 13"/>
          <p:cNvSpPr/>
          <p:nvPr/>
        </p:nvSpPr>
        <p:spPr>
          <a:xfrm>
            <a:off x="6400752" y="4757569"/>
            <a:ext cx="2145358" cy="416562"/>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7F6F2"/>
                </a:solidFill>
                <a:latin typeface="Arial" pitchFamily="34" charset="0"/>
                <a:ea typeface="Arial" pitchFamily="34" charset="-122"/>
                <a:cs typeface="Arial" pitchFamily="34" charset="-120"/>
              </a:rPr>
              <a:t>&lt; 30 min</a:t>
            </a:r>
            <a:endParaRPr lang="en-US" sz="2800" dirty="0"/>
          </a:p>
        </p:txBody>
      </p:sp>
      <p:sp>
        <p:nvSpPr>
          <p:cNvPr id="16" name="Text 14"/>
          <p:cNvSpPr/>
          <p:nvPr/>
        </p:nvSpPr>
        <p:spPr>
          <a:xfrm>
            <a:off x="6400752" y="5212231"/>
            <a:ext cx="2145358" cy="4519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3"/>
                </a:solidFill>
                <a:latin typeface="Arial" pitchFamily="34" charset="0"/>
                <a:ea typeface="Arial" pitchFamily="34" charset="-122"/>
                <a:cs typeface="Arial" pitchFamily="34" charset="-120"/>
              </a:rPr>
              <a:t>v2 stays untouched until retired</a:t>
            </a:r>
            <a:endParaRPr lang="en-US" sz="1200" dirty="0"/>
          </a:p>
        </p:txBody>
      </p:sp>
      <p:sp>
        <p:nvSpPr>
          <p:cNvPr id="17" name="Shape 15"/>
          <p:cNvSpPr/>
          <p:nvPr/>
        </p:nvSpPr>
        <p:spPr>
          <a:xfrm>
            <a:off x="8889999" y="4277590"/>
            <a:ext cx="2489248" cy="1564409"/>
          </a:xfrm>
          <a:prstGeom prst="roundRect">
            <a:avLst>
              <a:gd name="adj" fmla="val 6494"/>
            </a:avLst>
          </a:prstGeom>
          <a:solidFill>
            <a:srgbClr val="1E3160"/>
          </a:solidFill>
          <a:ln/>
        </p:spPr>
      </p:sp>
      <p:sp>
        <p:nvSpPr>
          <p:cNvPr id="18" name="Text 16"/>
          <p:cNvSpPr/>
          <p:nvPr/>
        </p:nvSpPr>
        <p:spPr>
          <a:xfrm>
            <a:off x="9093188" y="4480778"/>
            <a:ext cx="2145358" cy="23869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B04A"/>
                </a:solidFill>
                <a:latin typeface="Arial" pitchFamily="34" charset="0"/>
                <a:ea typeface="Arial" pitchFamily="34" charset="-122"/>
                <a:cs typeface="Arial" pitchFamily="34" charset="-120"/>
              </a:rPr>
              <a:t>Buffer before go-live</a:t>
            </a:r>
            <a:endParaRPr lang="en-US" sz="1200" dirty="0"/>
          </a:p>
        </p:txBody>
      </p:sp>
      <p:sp>
        <p:nvSpPr>
          <p:cNvPr id="19" name="Text 17"/>
          <p:cNvSpPr/>
          <p:nvPr/>
        </p:nvSpPr>
        <p:spPr>
          <a:xfrm>
            <a:off x="9093188" y="4757569"/>
            <a:ext cx="2145358" cy="416562"/>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7F6F2"/>
                </a:solidFill>
                <a:latin typeface="Arial" pitchFamily="34" charset="0"/>
                <a:ea typeface="Arial" pitchFamily="34" charset="-122"/>
                <a:cs typeface="Arial" pitchFamily="34" charset="-120"/>
              </a:rPr>
              <a:t>17 days</a:t>
            </a:r>
            <a:endParaRPr lang="en-US" sz="2800" dirty="0"/>
          </a:p>
        </p:txBody>
      </p:sp>
      <p:sp>
        <p:nvSpPr>
          <p:cNvPr id="20" name="Text 18"/>
          <p:cNvSpPr/>
          <p:nvPr/>
        </p:nvSpPr>
        <p:spPr>
          <a:xfrm>
            <a:off x="9093188" y="5212231"/>
            <a:ext cx="2145358" cy="4519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3"/>
                </a:solidFill>
                <a:latin typeface="Arial" pitchFamily="34" charset="0"/>
                <a:ea typeface="Arial" pitchFamily="34" charset="-122"/>
                <a:cs typeface="Arial" pitchFamily="34" charset="-120"/>
              </a:rPr>
              <a:t>Working days, Dec 21 – Jan 15</a:t>
            </a:r>
            <a:endParaRPr lang="en-US" sz="1200" dirty="0"/>
          </a:p>
        </p:txBody>
      </p:sp>
      <p:sp>
        <p:nvSpPr>
          <p:cNvPr id="21" name="Text 19"/>
          <p:cNvSpPr/>
          <p:nvPr/>
        </p:nvSpPr>
        <p:spPr>
          <a:xfrm>
            <a:off x="812752" y="6238334"/>
            <a:ext cx="10883366" cy="23869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8CC"/>
                </a:solidFill>
                <a:latin typeface="Arial" pitchFamily="34" charset="0"/>
                <a:ea typeface="Arial" pitchFamily="34" charset="-122"/>
                <a:cs typeface="Arial" pitchFamily="34" charset="-120"/>
              </a:rPr>
              <a:t>Dates assume a kickoff on Oct 12, 2026, US public holidays and the Dec 15–31 production freeze.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752" y="812752"/>
            <a:ext cx="10883490" cy="434362"/>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Arial" pitchFamily="34" charset="0"/>
                <a:ea typeface="Arial" pitchFamily="34" charset="-122"/>
                <a:cs typeface="Arial" pitchFamily="34" charset="-120"/>
              </a:rPr>
              <a:t>Roadmap by iteration, October 2026 to January 2027</a:t>
            </a:r>
            <a:endParaRPr lang="en-US" sz="2800" dirty="0"/>
          </a:p>
        </p:txBody>
      </p:sp>
      <p:sp>
        <p:nvSpPr>
          <p:cNvPr id="3" name="Text 1"/>
          <p:cNvSpPr/>
          <p:nvPr/>
        </p:nvSpPr>
        <p:spPr>
          <a:xfrm>
            <a:off x="863552" y="1361366"/>
            <a:ext cx="2040636" cy="23866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Arial" pitchFamily="34" charset="0"/>
                <a:ea typeface="Arial" pitchFamily="34" charset="-122"/>
                <a:cs typeface="Arial" pitchFamily="34" charset="-120"/>
              </a:rPr>
              <a:t>Workstream</a:t>
            </a:r>
            <a:endParaRPr lang="en-US" sz="1200" dirty="0"/>
          </a:p>
        </p:txBody>
      </p:sp>
      <p:sp>
        <p:nvSpPr>
          <p:cNvPr id="4" name="Shape 2"/>
          <p:cNvSpPr/>
          <p:nvPr/>
        </p:nvSpPr>
        <p:spPr>
          <a:xfrm>
            <a:off x="2847927" y="1335966"/>
            <a:ext cx="0" cy="495252"/>
          </a:xfrm>
          <a:prstGeom prst="line">
            <a:avLst/>
          </a:prstGeom>
          <a:noFill/>
          <a:ln w="6350">
            <a:solidFill>
              <a:srgbClr val="C9C5B8"/>
            </a:solidFill>
            <a:prstDash val="solid"/>
          </a:ln>
        </p:spPr>
      </p:sp>
      <p:sp>
        <p:nvSpPr>
          <p:cNvPr id="5" name="Text 3"/>
          <p:cNvSpPr/>
          <p:nvPr/>
        </p:nvSpPr>
        <p:spPr>
          <a:xfrm>
            <a:off x="2899352" y="1361342"/>
            <a:ext cx="1062951" cy="20820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Arial" pitchFamily="34" charset="0"/>
                <a:ea typeface="Arial" pitchFamily="34" charset="-122"/>
                <a:cs typeface="Arial" pitchFamily="34" charset="-120"/>
              </a:rPr>
              <a:t>Iter 1</a:t>
            </a:r>
            <a:endParaRPr lang="en-US" sz="1200" dirty="0"/>
          </a:p>
        </p:txBody>
      </p:sp>
      <p:sp>
        <p:nvSpPr>
          <p:cNvPr id="6" name="Text 4"/>
          <p:cNvSpPr/>
          <p:nvPr/>
        </p:nvSpPr>
        <p:spPr>
          <a:xfrm>
            <a:off x="2899352" y="1544145"/>
            <a:ext cx="1062951" cy="208203"/>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4A5568"/>
                </a:solidFill>
                <a:latin typeface="Arial" pitchFamily="34" charset="0"/>
                <a:ea typeface="Arial" pitchFamily="34" charset="-122"/>
                <a:cs typeface="Arial" pitchFamily="34" charset="-120"/>
              </a:rPr>
              <a:t>Oct 12–23</a:t>
            </a:r>
            <a:endParaRPr lang="en-US" sz="1200" dirty="0"/>
          </a:p>
        </p:txBody>
      </p:sp>
      <p:sp>
        <p:nvSpPr>
          <p:cNvPr id="7" name="Shape 5"/>
          <p:cNvSpPr/>
          <p:nvPr/>
        </p:nvSpPr>
        <p:spPr>
          <a:xfrm>
            <a:off x="3914678" y="1335966"/>
            <a:ext cx="0" cy="495252"/>
          </a:xfrm>
          <a:prstGeom prst="line">
            <a:avLst/>
          </a:prstGeom>
          <a:noFill/>
          <a:ln w="6350">
            <a:solidFill>
              <a:srgbClr val="C9C5B8"/>
            </a:solidFill>
            <a:prstDash val="solid"/>
          </a:ln>
        </p:spPr>
      </p:sp>
      <p:sp>
        <p:nvSpPr>
          <p:cNvPr id="8" name="Text 6"/>
          <p:cNvSpPr/>
          <p:nvPr/>
        </p:nvSpPr>
        <p:spPr>
          <a:xfrm>
            <a:off x="3966104" y="1361342"/>
            <a:ext cx="1062951" cy="20820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Arial" pitchFamily="34" charset="0"/>
                <a:ea typeface="Arial" pitchFamily="34" charset="-122"/>
                <a:cs typeface="Arial" pitchFamily="34" charset="-120"/>
              </a:rPr>
              <a:t>Iter 2</a:t>
            </a:r>
            <a:endParaRPr lang="en-US" sz="1200" dirty="0"/>
          </a:p>
        </p:txBody>
      </p:sp>
      <p:sp>
        <p:nvSpPr>
          <p:cNvPr id="9" name="Text 7"/>
          <p:cNvSpPr/>
          <p:nvPr/>
        </p:nvSpPr>
        <p:spPr>
          <a:xfrm>
            <a:off x="3966104" y="1544145"/>
            <a:ext cx="1062951" cy="208203"/>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4A5568"/>
                </a:solidFill>
                <a:latin typeface="Arial" pitchFamily="34" charset="0"/>
                <a:ea typeface="Arial" pitchFamily="34" charset="-122"/>
                <a:cs typeface="Arial" pitchFamily="34" charset="-120"/>
              </a:rPr>
              <a:t>Oct 26–Nov 6</a:t>
            </a:r>
            <a:endParaRPr lang="en-US" sz="1200" dirty="0"/>
          </a:p>
        </p:txBody>
      </p:sp>
      <p:sp>
        <p:nvSpPr>
          <p:cNvPr id="10" name="Shape 8"/>
          <p:cNvSpPr/>
          <p:nvPr/>
        </p:nvSpPr>
        <p:spPr>
          <a:xfrm>
            <a:off x="4981430" y="1335966"/>
            <a:ext cx="0" cy="495252"/>
          </a:xfrm>
          <a:prstGeom prst="line">
            <a:avLst/>
          </a:prstGeom>
          <a:noFill/>
          <a:ln w="6350">
            <a:solidFill>
              <a:srgbClr val="C9C5B8"/>
            </a:solidFill>
            <a:prstDash val="solid"/>
          </a:ln>
        </p:spPr>
      </p:sp>
      <p:sp>
        <p:nvSpPr>
          <p:cNvPr id="11" name="Text 9"/>
          <p:cNvSpPr/>
          <p:nvPr/>
        </p:nvSpPr>
        <p:spPr>
          <a:xfrm>
            <a:off x="5032856" y="1361342"/>
            <a:ext cx="1062951" cy="20820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Arial" pitchFamily="34" charset="0"/>
                <a:ea typeface="Arial" pitchFamily="34" charset="-122"/>
                <a:cs typeface="Arial" pitchFamily="34" charset="-120"/>
              </a:rPr>
              <a:t>Iter 3</a:t>
            </a:r>
            <a:endParaRPr lang="en-US" sz="1200" dirty="0"/>
          </a:p>
        </p:txBody>
      </p:sp>
      <p:sp>
        <p:nvSpPr>
          <p:cNvPr id="12" name="Text 10"/>
          <p:cNvSpPr/>
          <p:nvPr/>
        </p:nvSpPr>
        <p:spPr>
          <a:xfrm>
            <a:off x="5032856" y="1544145"/>
            <a:ext cx="1062951" cy="208203"/>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4A5568"/>
                </a:solidFill>
                <a:latin typeface="Arial" pitchFamily="34" charset="0"/>
                <a:ea typeface="Arial" pitchFamily="34" charset="-122"/>
                <a:cs typeface="Arial" pitchFamily="34" charset="-120"/>
              </a:rPr>
              <a:t>Nov 9–20</a:t>
            </a:r>
            <a:endParaRPr lang="en-US" sz="1200" dirty="0"/>
          </a:p>
        </p:txBody>
      </p:sp>
      <p:sp>
        <p:nvSpPr>
          <p:cNvPr id="13" name="Shape 11"/>
          <p:cNvSpPr/>
          <p:nvPr/>
        </p:nvSpPr>
        <p:spPr>
          <a:xfrm>
            <a:off x="6048182" y="1335966"/>
            <a:ext cx="0" cy="495252"/>
          </a:xfrm>
          <a:prstGeom prst="line">
            <a:avLst/>
          </a:prstGeom>
          <a:noFill/>
          <a:ln w="6350">
            <a:solidFill>
              <a:srgbClr val="C9C5B8"/>
            </a:solidFill>
            <a:prstDash val="solid"/>
          </a:ln>
        </p:spPr>
      </p:sp>
      <p:sp>
        <p:nvSpPr>
          <p:cNvPr id="14" name="Text 12"/>
          <p:cNvSpPr/>
          <p:nvPr/>
        </p:nvSpPr>
        <p:spPr>
          <a:xfrm>
            <a:off x="6099608" y="1361342"/>
            <a:ext cx="1062951" cy="20820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Arial" pitchFamily="34" charset="0"/>
                <a:ea typeface="Arial" pitchFamily="34" charset="-122"/>
                <a:cs typeface="Arial" pitchFamily="34" charset="-120"/>
              </a:rPr>
              <a:t>Iter 4</a:t>
            </a:r>
            <a:endParaRPr lang="en-US" sz="1200" dirty="0"/>
          </a:p>
        </p:txBody>
      </p:sp>
      <p:sp>
        <p:nvSpPr>
          <p:cNvPr id="15" name="Text 13"/>
          <p:cNvSpPr/>
          <p:nvPr/>
        </p:nvSpPr>
        <p:spPr>
          <a:xfrm>
            <a:off x="6099608" y="1544145"/>
            <a:ext cx="1062951" cy="208203"/>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4A5568"/>
                </a:solidFill>
                <a:latin typeface="Arial" pitchFamily="34" charset="0"/>
                <a:ea typeface="Arial" pitchFamily="34" charset="-122"/>
                <a:cs typeface="Arial" pitchFamily="34" charset="-120"/>
              </a:rPr>
              <a:t>Nov 23–Dec 4</a:t>
            </a:r>
            <a:endParaRPr lang="en-US" sz="1200" dirty="0"/>
          </a:p>
        </p:txBody>
      </p:sp>
      <p:sp>
        <p:nvSpPr>
          <p:cNvPr id="16" name="Shape 14"/>
          <p:cNvSpPr/>
          <p:nvPr/>
        </p:nvSpPr>
        <p:spPr>
          <a:xfrm>
            <a:off x="7114934" y="1335966"/>
            <a:ext cx="0" cy="495252"/>
          </a:xfrm>
          <a:prstGeom prst="line">
            <a:avLst/>
          </a:prstGeom>
          <a:noFill/>
          <a:ln w="6350">
            <a:solidFill>
              <a:srgbClr val="C9C5B8"/>
            </a:solidFill>
            <a:prstDash val="solid"/>
          </a:ln>
        </p:spPr>
      </p:sp>
      <p:sp>
        <p:nvSpPr>
          <p:cNvPr id="17" name="Text 15"/>
          <p:cNvSpPr/>
          <p:nvPr/>
        </p:nvSpPr>
        <p:spPr>
          <a:xfrm>
            <a:off x="7166359" y="1361342"/>
            <a:ext cx="1062951" cy="20820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Arial" pitchFamily="34" charset="0"/>
                <a:ea typeface="Arial" pitchFamily="34" charset="-122"/>
                <a:cs typeface="Arial" pitchFamily="34" charset="-120"/>
              </a:rPr>
              <a:t>Iter 5</a:t>
            </a:r>
            <a:endParaRPr lang="en-US" sz="1200" dirty="0"/>
          </a:p>
        </p:txBody>
      </p:sp>
      <p:sp>
        <p:nvSpPr>
          <p:cNvPr id="18" name="Text 16"/>
          <p:cNvSpPr/>
          <p:nvPr/>
        </p:nvSpPr>
        <p:spPr>
          <a:xfrm>
            <a:off x="7166359" y="1544145"/>
            <a:ext cx="1062951" cy="208203"/>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4A5568"/>
                </a:solidFill>
                <a:latin typeface="Arial" pitchFamily="34" charset="0"/>
                <a:ea typeface="Arial" pitchFamily="34" charset="-122"/>
                <a:cs typeface="Arial" pitchFamily="34" charset="-120"/>
              </a:rPr>
              <a:t>Dec 7–18</a:t>
            </a:r>
            <a:endParaRPr lang="en-US" sz="1200" dirty="0"/>
          </a:p>
        </p:txBody>
      </p:sp>
      <p:sp>
        <p:nvSpPr>
          <p:cNvPr id="19" name="Shape 17"/>
          <p:cNvSpPr/>
          <p:nvPr/>
        </p:nvSpPr>
        <p:spPr>
          <a:xfrm>
            <a:off x="8178511" y="1335966"/>
            <a:ext cx="1066752" cy="495252"/>
          </a:xfrm>
          <a:prstGeom prst="rect">
            <a:avLst/>
          </a:prstGeom>
          <a:solidFill>
            <a:srgbClr val="ECE9DE"/>
          </a:solidFill>
          <a:ln/>
        </p:spPr>
      </p:sp>
      <p:sp>
        <p:nvSpPr>
          <p:cNvPr id="20" name="Shape 18"/>
          <p:cNvSpPr/>
          <p:nvPr/>
        </p:nvSpPr>
        <p:spPr>
          <a:xfrm>
            <a:off x="8181686" y="1335966"/>
            <a:ext cx="0" cy="495252"/>
          </a:xfrm>
          <a:prstGeom prst="line">
            <a:avLst/>
          </a:prstGeom>
          <a:noFill/>
          <a:ln w="6350">
            <a:solidFill>
              <a:srgbClr val="C9C5B8"/>
            </a:solidFill>
            <a:prstDash val="solid"/>
          </a:ln>
        </p:spPr>
      </p:sp>
      <p:sp>
        <p:nvSpPr>
          <p:cNvPr id="21" name="Text 19"/>
          <p:cNvSpPr/>
          <p:nvPr/>
        </p:nvSpPr>
        <p:spPr>
          <a:xfrm>
            <a:off x="8233111" y="1361342"/>
            <a:ext cx="1062951" cy="20820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Arial" pitchFamily="34" charset="0"/>
                <a:ea typeface="Arial" pitchFamily="34" charset="-122"/>
                <a:cs typeface="Arial" pitchFamily="34" charset="-120"/>
              </a:rPr>
              <a:t>Freeze</a:t>
            </a:r>
            <a:endParaRPr lang="en-US" sz="1200" dirty="0"/>
          </a:p>
        </p:txBody>
      </p:sp>
      <p:sp>
        <p:nvSpPr>
          <p:cNvPr id="22" name="Text 20"/>
          <p:cNvSpPr/>
          <p:nvPr/>
        </p:nvSpPr>
        <p:spPr>
          <a:xfrm>
            <a:off x="8233111" y="1544145"/>
            <a:ext cx="1062951" cy="208203"/>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4A5568"/>
                </a:solidFill>
                <a:latin typeface="Arial" pitchFamily="34" charset="0"/>
                <a:ea typeface="Arial" pitchFamily="34" charset="-122"/>
                <a:cs typeface="Arial" pitchFamily="34" charset="-120"/>
              </a:rPr>
              <a:t>Dec 21–Jan 3</a:t>
            </a:r>
            <a:endParaRPr lang="en-US" sz="1200" dirty="0"/>
          </a:p>
        </p:txBody>
      </p:sp>
      <p:sp>
        <p:nvSpPr>
          <p:cNvPr id="23" name="Shape 21"/>
          <p:cNvSpPr/>
          <p:nvPr/>
        </p:nvSpPr>
        <p:spPr>
          <a:xfrm>
            <a:off x="9248438" y="1335966"/>
            <a:ext cx="0" cy="495252"/>
          </a:xfrm>
          <a:prstGeom prst="line">
            <a:avLst/>
          </a:prstGeom>
          <a:noFill/>
          <a:ln w="6350">
            <a:solidFill>
              <a:srgbClr val="C9C5B8"/>
            </a:solidFill>
            <a:prstDash val="solid"/>
          </a:ln>
        </p:spPr>
      </p:sp>
      <p:sp>
        <p:nvSpPr>
          <p:cNvPr id="24" name="Text 22"/>
          <p:cNvSpPr/>
          <p:nvPr/>
        </p:nvSpPr>
        <p:spPr>
          <a:xfrm>
            <a:off x="9299863" y="1361342"/>
            <a:ext cx="1062951" cy="20820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Arial" pitchFamily="34" charset="0"/>
                <a:ea typeface="Arial" pitchFamily="34" charset="-122"/>
                <a:cs typeface="Arial" pitchFamily="34" charset="-120"/>
              </a:rPr>
              <a:t>Iter 6</a:t>
            </a:r>
            <a:endParaRPr lang="en-US" sz="1200" dirty="0"/>
          </a:p>
        </p:txBody>
      </p:sp>
      <p:sp>
        <p:nvSpPr>
          <p:cNvPr id="25" name="Text 23"/>
          <p:cNvSpPr/>
          <p:nvPr/>
        </p:nvSpPr>
        <p:spPr>
          <a:xfrm>
            <a:off x="9299863" y="1544145"/>
            <a:ext cx="1062951" cy="208203"/>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4A5568"/>
                </a:solidFill>
                <a:latin typeface="Arial" pitchFamily="34" charset="0"/>
                <a:ea typeface="Arial" pitchFamily="34" charset="-122"/>
                <a:cs typeface="Arial" pitchFamily="34" charset="-120"/>
              </a:rPr>
              <a:t>Jan 4–15</a:t>
            </a:r>
            <a:endParaRPr lang="en-US" sz="1200" dirty="0"/>
          </a:p>
        </p:txBody>
      </p:sp>
      <p:sp>
        <p:nvSpPr>
          <p:cNvPr id="26" name="Shape 24"/>
          <p:cNvSpPr/>
          <p:nvPr/>
        </p:nvSpPr>
        <p:spPr>
          <a:xfrm>
            <a:off x="10315190" y="1335966"/>
            <a:ext cx="0" cy="495252"/>
          </a:xfrm>
          <a:prstGeom prst="line">
            <a:avLst/>
          </a:prstGeom>
          <a:noFill/>
          <a:ln w="6350">
            <a:solidFill>
              <a:srgbClr val="C9C5B8"/>
            </a:solidFill>
            <a:prstDash val="solid"/>
          </a:ln>
        </p:spPr>
      </p:sp>
      <p:sp>
        <p:nvSpPr>
          <p:cNvPr id="27" name="Text 25"/>
          <p:cNvSpPr/>
          <p:nvPr/>
        </p:nvSpPr>
        <p:spPr>
          <a:xfrm>
            <a:off x="10366615" y="1361342"/>
            <a:ext cx="1062951" cy="20820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Arial" pitchFamily="34" charset="0"/>
                <a:ea typeface="Arial" pitchFamily="34" charset="-122"/>
                <a:cs typeface="Arial" pitchFamily="34" charset="-120"/>
              </a:rPr>
              <a:t>Iter 7</a:t>
            </a:r>
            <a:endParaRPr lang="en-US" sz="1200" dirty="0"/>
          </a:p>
        </p:txBody>
      </p:sp>
      <p:sp>
        <p:nvSpPr>
          <p:cNvPr id="28" name="Text 26"/>
          <p:cNvSpPr/>
          <p:nvPr/>
        </p:nvSpPr>
        <p:spPr>
          <a:xfrm>
            <a:off x="10366615" y="1544145"/>
            <a:ext cx="1062951" cy="208203"/>
          </a:xfrm>
          <a:prstGeom prst="rect">
            <a:avLst/>
          </a:prstGeom>
          <a:noFill/>
          <a:ln/>
        </p:spPr>
        <p:txBody>
          <a:bodyPr wrap="none" lIns="0" tIns="0" rIns="0" bIns="0" rtlCol="0" anchor="t">
            <a:normAutofit/>
          </a:bodyPr>
          <a:lstStyle/>
          <a:p>
            <a:pPr algn="l" indent="0" marL="0">
              <a:lnSpc>
                <a:spcPts val="1440"/>
              </a:lnSpc>
              <a:buNone/>
            </a:pPr>
            <a:r>
              <a:rPr lang="en-US" sz="1200" dirty="0">
                <a:solidFill>
                  <a:srgbClr val="4A5568"/>
                </a:solidFill>
                <a:latin typeface="Arial" pitchFamily="34" charset="0"/>
                <a:ea typeface="Arial" pitchFamily="34" charset="-122"/>
                <a:cs typeface="Arial" pitchFamily="34" charset="-120"/>
              </a:rPr>
              <a:t>Jan 18–29</a:t>
            </a:r>
            <a:endParaRPr lang="en-US" sz="1200" dirty="0"/>
          </a:p>
        </p:txBody>
      </p:sp>
      <p:sp>
        <p:nvSpPr>
          <p:cNvPr id="29" name="Shape 27"/>
          <p:cNvSpPr/>
          <p:nvPr/>
        </p:nvSpPr>
        <p:spPr>
          <a:xfrm>
            <a:off x="812752" y="1831218"/>
            <a:ext cx="10566375" cy="317500"/>
          </a:xfrm>
          <a:prstGeom prst="rect">
            <a:avLst/>
          </a:prstGeom>
          <a:solidFill>
            <a:srgbClr val="FDFCF9"/>
          </a:solidFill>
          <a:ln/>
        </p:spPr>
      </p:sp>
      <p:sp>
        <p:nvSpPr>
          <p:cNvPr id="30" name="Text 28"/>
          <p:cNvSpPr/>
          <p:nvPr/>
        </p:nvSpPr>
        <p:spPr>
          <a:xfrm>
            <a:off x="863552" y="1883292"/>
            <a:ext cx="2040636"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Gates</a:t>
            </a:r>
            <a:endParaRPr lang="en-US" sz="1200" dirty="0"/>
          </a:p>
        </p:txBody>
      </p:sp>
      <p:sp>
        <p:nvSpPr>
          <p:cNvPr id="31" name="Shape 29"/>
          <p:cNvSpPr/>
          <p:nvPr/>
        </p:nvSpPr>
        <p:spPr>
          <a:xfrm>
            <a:off x="2844752" y="1831218"/>
            <a:ext cx="8534375" cy="317500"/>
          </a:xfrm>
          <a:prstGeom prst="rect">
            <a:avLst/>
          </a:prstGeom>
          <a:gradFill rotWithShape="1">
            <a:gsLst>
              <a:gs pos="0">
                <a:srgbClr val="000000">
                  <a:alpha val="0"/>
                </a:srgbClr>
              </a:gs>
              <a:gs pos="99405">
                <a:srgbClr val="D9D5C8">
                  <a:alpha val="0"/>
                </a:srgbClr>
              </a:gs>
              <a:gs pos="99405">
                <a:srgbClr val="D9D5C8"/>
              </a:gs>
              <a:gs pos="100000">
                <a:srgbClr val="D9D5C8"/>
              </a:gs>
            </a:gsLst>
            <a:lin ang="0" scaled="0"/>
          </a:gradFill>
          <a:ln/>
        </p:spPr>
      </p:sp>
      <p:sp>
        <p:nvSpPr>
          <p:cNvPr id="32" name="Text 30"/>
          <p:cNvSpPr/>
          <p:nvPr/>
        </p:nvSpPr>
        <p:spPr>
          <a:xfrm>
            <a:off x="2851102" y="1869318"/>
            <a:ext cx="241300" cy="241300"/>
          </a:xfrm>
          <a:custGeom>
            <a:avLst/>
            <a:gdLst/>
            <a:ahLst/>
            <a:cxnLst/>
            <a:rect l="l" t="t" r="r" b="b"/>
            <a:pathLst>
              <a:path w="241300" h="241300">
                <a:moveTo>
                  <a:pt x="120650" y="0"/>
                </a:moveTo>
                <a:lnTo>
                  <a:pt x="120650" y="0"/>
                </a:lnTo>
                <a:arcTo hR="120650" wR="120650" stAng="16200000" swAng="5400000"/>
                <a:lnTo>
                  <a:pt x="241300" y="120650"/>
                </a:lnTo>
                <a:arcTo hR="120650" wR="120650" stAng="0" swAng="5400000"/>
                <a:lnTo>
                  <a:pt x="120650" y="241300"/>
                </a:lnTo>
                <a:arcTo hR="120650" wR="120650" stAng="5400000" swAng="5400000"/>
                <a:lnTo>
                  <a:pt x="0" y="120650"/>
                </a:lnTo>
                <a:arcTo hR="120650" wR="120650" stAng="10800000" swAng="5400000"/>
                <a:close/>
              </a:path>
            </a:pathLst>
          </a:custGeom>
          <a:solidFill>
            <a:srgbClr val="E8B04A"/>
          </a:solidFill>
          <a:ln w="12700">
            <a:solidFill>
              <a:srgbClr val="14213D"/>
            </a:solidFill>
            <a:prstDash val="solid"/>
          </a:ln>
        </p:spPr>
        <p:txBody>
          <a:bodyPr wrap="square" lIns="5195" tIns="5195" rIns="5195" bIns="5195"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1</a:t>
            </a:r>
            <a:endParaRPr lang="en-US" sz="1200" dirty="0"/>
          </a:p>
        </p:txBody>
      </p:sp>
      <p:sp>
        <p:nvSpPr>
          <p:cNvPr id="33" name="Text 31"/>
          <p:cNvSpPr/>
          <p:nvPr/>
        </p:nvSpPr>
        <p:spPr>
          <a:xfrm>
            <a:off x="3105102" y="1869318"/>
            <a:ext cx="241300" cy="241300"/>
          </a:xfrm>
          <a:custGeom>
            <a:avLst/>
            <a:gdLst/>
            <a:ahLst/>
            <a:cxnLst/>
            <a:rect l="l" t="t" r="r" b="b"/>
            <a:pathLst>
              <a:path w="241300" h="241300">
                <a:moveTo>
                  <a:pt x="120650" y="0"/>
                </a:moveTo>
                <a:lnTo>
                  <a:pt x="120650" y="0"/>
                </a:lnTo>
                <a:arcTo hR="120650" wR="120650" stAng="16200000" swAng="5400000"/>
                <a:lnTo>
                  <a:pt x="241300" y="120650"/>
                </a:lnTo>
                <a:arcTo hR="120650" wR="120650" stAng="0" swAng="5400000"/>
                <a:lnTo>
                  <a:pt x="120650" y="241300"/>
                </a:lnTo>
                <a:arcTo hR="120650" wR="120650" stAng="5400000" swAng="5400000"/>
                <a:lnTo>
                  <a:pt x="0" y="120650"/>
                </a:lnTo>
                <a:arcTo hR="120650" wR="120650" stAng="10800000" swAng="5400000"/>
                <a:close/>
              </a:path>
            </a:pathLst>
          </a:custGeom>
          <a:solidFill>
            <a:srgbClr val="E8B04A"/>
          </a:solidFill>
          <a:ln w="12700">
            <a:solidFill>
              <a:srgbClr val="14213D"/>
            </a:solidFill>
            <a:prstDash val="solid"/>
          </a:ln>
        </p:spPr>
        <p:txBody>
          <a:bodyPr wrap="square" lIns="5195" tIns="5195" rIns="5195" bIns="5195"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2</a:t>
            </a:r>
            <a:endParaRPr lang="en-US" sz="1200" dirty="0"/>
          </a:p>
        </p:txBody>
      </p:sp>
      <p:sp>
        <p:nvSpPr>
          <p:cNvPr id="34" name="Text 32"/>
          <p:cNvSpPr/>
          <p:nvPr/>
        </p:nvSpPr>
        <p:spPr>
          <a:xfrm>
            <a:off x="3359102" y="1869318"/>
            <a:ext cx="241300" cy="241300"/>
          </a:xfrm>
          <a:custGeom>
            <a:avLst/>
            <a:gdLst/>
            <a:ahLst/>
            <a:cxnLst/>
            <a:rect l="l" t="t" r="r" b="b"/>
            <a:pathLst>
              <a:path w="241300" h="241300">
                <a:moveTo>
                  <a:pt x="120650" y="0"/>
                </a:moveTo>
                <a:lnTo>
                  <a:pt x="120650" y="0"/>
                </a:lnTo>
                <a:arcTo hR="120650" wR="120650" stAng="16200000" swAng="5400000"/>
                <a:lnTo>
                  <a:pt x="241300" y="120650"/>
                </a:lnTo>
                <a:arcTo hR="120650" wR="120650" stAng="0" swAng="5400000"/>
                <a:lnTo>
                  <a:pt x="120650" y="241300"/>
                </a:lnTo>
                <a:arcTo hR="120650" wR="120650" stAng="5400000" swAng="5400000"/>
                <a:lnTo>
                  <a:pt x="0" y="120650"/>
                </a:lnTo>
                <a:arcTo hR="120650" wR="120650" stAng="10800000" swAng="5400000"/>
                <a:close/>
              </a:path>
            </a:pathLst>
          </a:custGeom>
          <a:solidFill>
            <a:srgbClr val="E8B04A"/>
          </a:solidFill>
          <a:ln w="12700">
            <a:solidFill>
              <a:srgbClr val="14213D"/>
            </a:solidFill>
            <a:prstDash val="solid"/>
          </a:ln>
        </p:spPr>
        <p:txBody>
          <a:bodyPr wrap="square" lIns="5195" tIns="5195" rIns="5195" bIns="5195"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3</a:t>
            </a:r>
            <a:endParaRPr lang="en-US" sz="1200" dirty="0"/>
          </a:p>
        </p:txBody>
      </p:sp>
      <p:sp>
        <p:nvSpPr>
          <p:cNvPr id="35" name="Text 33"/>
          <p:cNvSpPr/>
          <p:nvPr/>
        </p:nvSpPr>
        <p:spPr>
          <a:xfrm>
            <a:off x="3613102" y="1869318"/>
            <a:ext cx="241300" cy="241300"/>
          </a:xfrm>
          <a:custGeom>
            <a:avLst/>
            <a:gdLst/>
            <a:ahLst/>
            <a:cxnLst/>
            <a:rect l="l" t="t" r="r" b="b"/>
            <a:pathLst>
              <a:path w="241300" h="241300">
                <a:moveTo>
                  <a:pt x="120650" y="0"/>
                </a:moveTo>
                <a:lnTo>
                  <a:pt x="120650" y="0"/>
                </a:lnTo>
                <a:arcTo hR="120650" wR="120650" stAng="16200000" swAng="5400000"/>
                <a:lnTo>
                  <a:pt x="241300" y="120650"/>
                </a:lnTo>
                <a:arcTo hR="120650" wR="120650" stAng="0" swAng="5400000"/>
                <a:lnTo>
                  <a:pt x="120650" y="241300"/>
                </a:lnTo>
                <a:arcTo hR="120650" wR="120650" stAng="5400000" swAng="5400000"/>
                <a:lnTo>
                  <a:pt x="0" y="120650"/>
                </a:lnTo>
                <a:arcTo hR="120650" wR="120650" stAng="10800000" swAng="5400000"/>
                <a:close/>
              </a:path>
            </a:pathLst>
          </a:custGeom>
          <a:solidFill>
            <a:srgbClr val="E8B04A"/>
          </a:solidFill>
          <a:ln w="12700">
            <a:solidFill>
              <a:srgbClr val="14213D"/>
            </a:solidFill>
            <a:prstDash val="solid"/>
          </a:ln>
        </p:spPr>
        <p:txBody>
          <a:bodyPr wrap="square" lIns="5195" tIns="5195" rIns="5195" bIns="5195"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4</a:t>
            </a:r>
            <a:endParaRPr lang="en-US" sz="1200" dirty="0"/>
          </a:p>
        </p:txBody>
      </p:sp>
      <p:sp>
        <p:nvSpPr>
          <p:cNvPr id="36" name="Text 34"/>
          <p:cNvSpPr/>
          <p:nvPr/>
        </p:nvSpPr>
        <p:spPr>
          <a:xfrm>
            <a:off x="3867102" y="1869318"/>
            <a:ext cx="241300" cy="241300"/>
          </a:xfrm>
          <a:custGeom>
            <a:avLst/>
            <a:gdLst/>
            <a:ahLst/>
            <a:cxnLst/>
            <a:rect l="l" t="t" r="r" b="b"/>
            <a:pathLst>
              <a:path w="241300" h="241300">
                <a:moveTo>
                  <a:pt x="120650" y="0"/>
                </a:moveTo>
                <a:lnTo>
                  <a:pt x="120650" y="0"/>
                </a:lnTo>
                <a:arcTo hR="120650" wR="120650" stAng="16200000" swAng="5400000"/>
                <a:lnTo>
                  <a:pt x="241300" y="120650"/>
                </a:lnTo>
                <a:arcTo hR="120650" wR="120650" stAng="0" swAng="5400000"/>
                <a:lnTo>
                  <a:pt x="120650" y="241300"/>
                </a:lnTo>
                <a:arcTo hR="120650" wR="120650" stAng="5400000" swAng="5400000"/>
                <a:lnTo>
                  <a:pt x="0" y="120650"/>
                </a:lnTo>
                <a:arcTo hR="120650" wR="120650" stAng="10800000" swAng="5400000"/>
                <a:close/>
              </a:path>
            </a:pathLst>
          </a:custGeom>
          <a:solidFill>
            <a:srgbClr val="E8B04A"/>
          </a:solidFill>
          <a:ln w="12700">
            <a:solidFill>
              <a:srgbClr val="14213D"/>
            </a:solidFill>
            <a:prstDash val="solid"/>
          </a:ln>
        </p:spPr>
        <p:txBody>
          <a:bodyPr wrap="square" lIns="5195" tIns="5195" rIns="5195" bIns="5195"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5</a:t>
            </a:r>
            <a:endParaRPr lang="en-US" sz="1200" dirty="0"/>
          </a:p>
        </p:txBody>
      </p:sp>
      <p:sp>
        <p:nvSpPr>
          <p:cNvPr id="37" name="Text 35"/>
          <p:cNvSpPr/>
          <p:nvPr/>
        </p:nvSpPr>
        <p:spPr>
          <a:xfrm>
            <a:off x="4121102" y="1869318"/>
            <a:ext cx="241300" cy="241300"/>
          </a:xfrm>
          <a:custGeom>
            <a:avLst/>
            <a:gdLst/>
            <a:ahLst/>
            <a:cxnLst/>
            <a:rect l="l" t="t" r="r" b="b"/>
            <a:pathLst>
              <a:path w="241300" h="241300">
                <a:moveTo>
                  <a:pt x="120650" y="0"/>
                </a:moveTo>
                <a:lnTo>
                  <a:pt x="120650" y="0"/>
                </a:lnTo>
                <a:arcTo hR="120650" wR="120650" stAng="16200000" swAng="5400000"/>
                <a:lnTo>
                  <a:pt x="241300" y="120650"/>
                </a:lnTo>
                <a:arcTo hR="120650" wR="120650" stAng="0" swAng="5400000"/>
                <a:lnTo>
                  <a:pt x="120650" y="241300"/>
                </a:lnTo>
                <a:arcTo hR="120650" wR="120650" stAng="5400000" swAng="5400000"/>
                <a:lnTo>
                  <a:pt x="0" y="120650"/>
                </a:lnTo>
                <a:arcTo hR="120650" wR="120650" stAng="10800000" swAng="5400000"/>
                <a:close/>
              </a:path>
            </a:pathLst>
          </a:custGeom>
          <a:solidFill>
            <a:srgbClr val="E8B04A"/>
          </a:solidFill>
          <a:ln w="12700">
            <a:solidFill>
              <a:srgbClr val="14213D"/>
            </a:solidFill>
            <a:prstDash val="solid"/>
          </a:ln>
        </p:spPr>
        <p:txBody>
          <a:bodyPr wrap="square" lIns="5195" tIns="5195" rIns="5195" bIns="5195"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6</a:t>
            </a:r>
            <a:endParaRPr lang="en-US" sz="1200" dirty="0"/>
          </a:p>
        </p:txBody>
      </p:sp>
      <p:sp>
        <p:nvSpPr>
          <p:cNvPr id="38" name="Text 36"/>
          <p:cNvSpPr/>
          <p:nvPr/>
        </p:nvSpPr>
        <p:spPr>
          <a:xfrm>
            <a:off x="863552" y="2200792"/>
            <a:ext cx="2040636"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Readiness, Python 3.14</a:t>
            </a:r>
            <a:endParaRPr lang="en-US" sz="1200" dirty="0"/>
          </a:p>
        </p:txBody>
      </p:sp>
      <p:sp>
        <p:nvSpPr>
          <p:cNvPr id="39" name="Shape 37"/>
          <p:cNvSpPr/>
          <p:nvPr/>
        </p:nvSpPr>
        <p:spPr>
          <a:xfrm>
            <a:off x="2844752" y="2148718"/>
            <a:ext cx="8534375" cy="317500"/>
          </a:xfrm>
          <a:prstGeom prst="rect">
            <a:avLst/>
          </a:prstGeom>
          <a:gradFill rotWithShape="1">
            <a:gsLst>
              <a:gs pos="0">
                <a:srgbClr val="000000">
                  <a:alpha val="0"/>
                </a:srgbClr>
              </a:gs>
              <a:gs pos="99405">
                <a:srgbClr val="D9D5C8">
                  <a:alpha val="0"/>
                </a:srgbClr>
              </a:gs>
              <a:gs pos="99405">
                <a:srgbClr val="D9D5C8"/>
              </a:gs>
              <a:gs pos="100000">
                <a:srgbClr val="D9D5C8"/>
              </a:gs>
            </a:gsLst>
            <a:lin ang="0" scaled="0"/>
          </a:gradFill>
          <a:ln/>
        </p:spPr>
      </p:sp>
      <p:sp>
        <p:nvSpPr>
          <p:cNvPr id="40" name="Text 38"/>
          <p:cNvSpPr/>
          <p:nvPr/>
        </p:nvSpPr>
        <p:spPr>
          <a:xfrm>
            <a:off x="2844752" y="2167779"/>
            <a:ext cx="1016000" cy="279376"/>
          </a:xfrm>
          <a:prstGeom prst="roundRect">
            <a:avLst>
              <a:gd name="adj" fmla="val 18183"/>
            </a:avLst>
          </a:prstGeom>
          <a:solidFill>
            <a:srgbClr val="2B59C3"/>
          </a:solidFill>
          <a:ln/>
        </p:spPr>
        <p:txBody>
          <a:bodyPr wrap="none" lIns="48621" tIns="0" rIns="73829" bIns="0" rtlCol="0" anchor="ctr">
            <a:normAutofit/>
          </a:bodyPr>
          <a:lstStyle/>
          <a:p>
            <a:pPr algn="l" indent="0" marL="0">
              <a:lnSpc>
                <a:spcPts val="1680"/>
              </a:lnSpc>
              <a:buNone/>
            </a:pPr>
            <a:r>
              <a:rPr lang="en-US" sz="1200" b="1" dirty="0">
                <a:solidFill>
                  <a:srgbClr val="F7F6F2"/>
                </a:solidFill>
                <a:latin typeface="Arial" pitchFamily="34" charset="0"/>
                <a:ea typeface="Arial" pitchFamily="34" charset="-122"/>
                <a:cs typeface="Arial" pitchFamily="34" charset="-120"/>
              </a:rPr>
              <a:t>Scan, audit</a:t>
            </a:r>
            <a:endParaRPr lang="en-US" sz="1200" dirty="0"/>
          </a:p>
        </p:txBody>
      </p:sp>
      <p:sp>
        <p:nvSpPr>
          <p:cNvPr id="41" name="Text 39"/>
          <p:cNvSpPr/>
          <p:nvPr/>
        </p:nvSpPr>
        <p:spPr>
          <a:xfrm>
            <a:off x="3860752" y="2167779"/>
            <a:ext cx="1016000" cy="279376"/>
          </a:xfrm>
          <a:prstGeom prst="roundRect">
            <a:avLst>
              <a:gd name="adj" fmla="val 18183"/>
            </a:avLst>
          </a:prstGeom>
          <a:solidFill>
            <a:srgbClr val="2B59C3"/>
          </a:solidFill>
          <a:ln/>
        </p:spPr>
        <p:txBody>
          <a:bodyPr wrap="none" lIns="0" tIns="0" rIns="0" bIns="0" rtlCol="0" anchor="ctr">
            <a:normAutofit/>
          </a:bodyPr>
          <a:lstStyle/>
          <a:p>
            <a:pPr algn="ctr" indent="0" marL="0">
              <a:lnSpc>
                <a:spcPts val="1680"/>
              </a:lnSpc>
              <a:buNone/>
            </a:pPr>
            <a:r>
              <a:rPr lang="en-US" sz="1200" b="1" dirty="0">
                <a:solidFill>
                  <a:srgbClr val="F7F6F2"/>
                </a:solidFill>
                <a:latin typeface="Arial" pitchFamily="34" charset="0"/>
                <a:ea typeface="Arial" pitchFamily="34" charset="-122"/>
                <a:cs typeface="Arial" pitchFamily="34" charset="-120"/>
              </a:rPr>
              <a:t>Image, Helm</a:t>
            </a:r>
            <a:endParaRPr lang="en-US" sz="1200" dirty="0"/>
          </a:p>
        </p:txBody>
      </p:sp>
      <p:sp>
        <p:nvSpPr>
          <p:cNvPr id="42" name="Shape 40"/>
          <p:cNvSpPr/>
          <p:nvPr/>
        </p:nvSpPr>
        <p:spPr>
          <a:xfrm>
            <a:off x="812752" y="2466218"/>
            <a:ext cx="10566375" cy="317500"/>
          </a:xfrm>
          <a:prstGeom prst="rect">
            <a:avLst/>
          </a:prstGeom>
          <a:solidFill>
            <a:srgbClr val="FDFCF9"/>
          </a:solidFill>
          <a:ln/>
        </p:spPr>
      </p:sp>
      <p:sp>
        <p:nvSpPr>
          <p:cNvPr id="43" name="Text 41"/>
          <p:cNvSpPr/>
          <p:nvPr/>
        </p:nvSpPr>
        <p:spPr>
          <a:xfrm>
            <a:off x="863552" y="2518292"/>
            <a:ext cx="2040636"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Teams fix DAGs on v2</a:t>
            </a:r>
            <a:endParaRPr lang="en-US" sz="1200" dirty="0"/>
          </a:p>
        </p:txBody>
      </p:sp>
      <p:sp>
        <p:nvSpPr>
          <p:cNvPr id="44" name="Shape 42"/>
          <p:cNvSpPr/>
          <p:nvPr/>
        </p:nvSpPr>
        <p:spPr>
          <a:xfrm>
            <a:off x="2844752" y="2466218"/>
            <a:ext cx="8534375" cy="317500"/>
          </a:xfrm>
          <a:prstGeom prst="rect">
            <a:avLst/>
          </a:prstGeom>
          <a:gradFill rotWithShape="1">
            <a:gsLst>
              <a:gs pos="0">
                <a:srgbClr val="000000">
                  <a:alpha val="0"/>
                </a:srgbClr>
              </a:gs>
              <a:gs pos="99405">
                <a:srgbClr val="D9D5C8">
                  <a:alpha val="0"/>
                </a:srgbClr>
              </a:gs>
              <a:gs pos="99405">
                <a:srgbClr val="D9D5C8"/>
              </a:gs>
              <a:gs pos="100000">
                <a:srgbClr val="D9D5C8"/>
              </a:gs>
            </a:gsLst>
            <a:lin ang="0" scaled="0"/>
          </a:gradFill>
          <a:ln/>
        </p:spPr>
      </p:sp>
      <p:sp>
        <p:nvSpPr>
          <p:cNvPr id="45" name="Text 43"/>
          <p:cNvSpPr/>
          <p:nvPr/>
        </p:nvSpPr>
        <p:spPr>
          <a:xfrm>
            <a:off x="2844752" y="2485279"/>
            <a:ext cx="1549376" cy="279376"/>
          </a:xfrm>
          <a:prstGeom prst="roundRect">
            <a:avLst>
              <a:gd name="adj" fmla="val 18183"/>
            </a:avLst>
          </a:prstGeom>
          <a:solidFill>
            <a:srgbClr val="A9540A"/>
          </a:solidFill>
          <a:ln/>
        </p:spPr>
        <p:txBody>
          <a:bodyPr wrap="none" lIns="48621" tIns="0" rIns="500830" bIns="0" rtlCol="0" anchor="ctr">
            <a:normAutofit/>
          </a:bodyPr>
          <a:lstStyle/>
          <a:p>
            <a:pPr algn="l" indent="0" marL="0">
              <a:lnSpc>
                <a:spcPts val="1680"/>
              </a:lnSpc>
              <a:buNone/>
            </a:pPr>
            <a:r>
              <a:rPr lang="en-US" sz="1200" b="1" dirty="0">
                <a:solidFill>
                  <a:srgbClr val="F7F6F2"/>
                </a:solidFill>
                <a:latin typeface="Arial" pitchFamily="34" charset="0"/>
                <a:ea typeface="Arial" pitchFamily="34" charset="-122"/>
                <a:cs typeface="Arial" pitchFamily="34" charset="-120"/>
              </a:rPr>
              <a:t>Fix + release</a:t>
            </a:r>
            <a:endParaRPr lang="en-US" sz="1200" dirty="0"/>
          </a:p>
        </p:txBody>
      </p:sp>
      <p:sp>
        <p:nvSpPr>
          <p:cNvPr id="46" name="Text 44"/>
          <p:cNvSpPr/>
          <p:nvPr/>
        </p:nvSpPr>
        <p:spPr>
          <a:xfrm>
            <a:off x="863552" y="2835792"/>
            <a:ext cx="2040636"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QA environment (new)</a:t>
            </a:r>
            <a:endParaRPr lang="en-US" sz="1200" dirty="0"/>
          </a:p>
        </p:txBody>
      </p:sp>
      <p:sp>
        <p:nvSpPr>
          <p:cNvPr id="47" name="Shape 45"/>
          <p:cNvSpPr/>
          <p:nvPr/>
        </p:nvSpPr>
        <p:spPr>
          <a:xfrm>
            <a:off x="2844752" y="2783718"/>
            <a:ext cx="8534375" cy="317500"/>
          </a:xfrm>
          <a:prstGeom prst="rect">
            <a:avLst/>
          </a:prstGeom>
          <a:gradFill rotWithShape="1">
            <a:gsLst>
              <a:gs pos="0">
                <a:srgbClr val="000000">
                  <a:alpha val="0"/>
                </a:srgbClr>
              </a:gs>
              <a:gs pos="99405">
                <a:srgbClr val="D9D5C8">
                  <a:alpha val="0"/>
                </a:srgbClr>
              </a:gs>
              <a:gs pos="99405">
                <a:srgbClr val="D9D5C8"/>
              </a:gs>
              <a:gs pos="100000">
                <a:srgbClr val="D9D5C8"/>
              </a:gs>
            </a:gsLst>
            <a:lin ang="0" scaled="0"/>
          </a:gradFill>
          <a:ln/>
        </p:spPr>
      </p:sp>
      <p:sp>
        <p:nvSpPr>
          <p:cNvPr id="48" name="Text 46"/>
          <p:cNvSpPr/>
          <p:nvPr/>
        </p:nvSpPr>
        <p:spPr>
          <a:xfrm>
            <a:off x="2844752" y="2802779"/>
            <a:ext cx="1016000" cy="279376"/>
          </a:xfrm>
          <a:prstGeom prst="roundRect">
            <a:avLst>
              <a:gd name="adj" fmla="val 18183"/>
            </a:avLst>
          </a:prstGeom>
          <a:solidFill>
            <a:srgbClr val="2B59C3"/>
          </a:solidFill>
          <a:ln/>
        </p:spPr>
        <p:txBody>
          <a:bodyPr wrap="none" lIns="48621" tIns="0" rIns="257534" bIns="0" rtlCol="0" anchor="ctr">
            <a:normAutofit/>
          </a:bodyPr>
          <a:lstStyle/>
          <a:p>
            <a:pPr algn="l" indent="0" marL="0">
              <a:lnSpc>
                <a:spcPts val="1680"/>
              </a:lnSpc>
              <a:buNone/>
            </a:pPr>
            <a:r>
              <a:rPr lang="en-US" sz="1200" b="1" dirty="0">
                <a:solidFill>
                  <a:srgbClr val="F7F6F2"/>
                </a:solidFill>
                <a:latin typeface="Arial" pitchFamily="34" charset="0"/>
                <a:ea typeface="Arial" pitchFamily="34" charset="-122"/>
                <a:cs typeface="Arial" pitchFamily="34" charset="-120"/>
              </a:rPr>
              <a:t>QA build</a:t>
            </a:r>
            <a:endParaRPr lang="en-US" sz="1200" dirty="0"/>
          </a:p>
        </p:txBody>
      </p:sp>
      <p:sp>
        <p:nvSpPr>
          <p:cNvPr id="49" name="Text 47"/>
          <p:cNvSpPr/>
          <p:nvPr/>
        </p:nvSpPr>
        <p:spPr>
          <a:xfrm>
            <a:off x="3860752" y="2802779"/>
            <a:ext cx="1016000" cy="279376"/>
          </a:xfrm>
          <a:prstGeom prst="roundRect">
            <a:avLst>
              <a:gd name="adj" fmla="val 18183"/>
            </a:avLst>
          </a:prstGeom>
          <a:solidFill>
            <a:srgbClr val="2B59C3"/>
          </a:solidFill>
          <a:ln/>
        </p:spPr>
        <p:txBody>
          <a:bodyPr wrap="none" lIns="48621" tIns="0" rIns="265712" bIns="0" rtlCol="0" anchor="ctr">
            <a:normAutofit/>
          </a:bodyPr>
          <a:lstStyle/>
          <a:p>
            <a:pPr algn="l" indent="0" marL="0">
              <a:lnSpc>
                <a:spcPts val="1680"/>
              </a:lnSpc>
              <a:buNone/>
            </a:pPr>
            <a:r>
              <a:rPr lang="en-US" sz="1200" b="1" dirty="0">
                <a:solidFill>
                  <a:srgbClr val="F7F6F2"/>
                </a:solidFill>
                <a:latin typeface="Arial" pitchFamily="34" charset="0"/>
                <a:ea typeface="Arial" pitchFamily="34" charset="-122"/>
                <a:cs typeface="Arial" pitchFamily="34" charset="-120"/>
              </a:rPr>
              <a:t>QA tests</a:t>
            </a:r>
            <a:endParaRPr lang="en-US" sz="1200" dirty="0"/>
          </a:p>
        </p:txBody>
      </p:sp>
      <p:sp>
        <p:nvSpPr>
          <p:cNvPr id="50" name="Shape 48"/>
          <p:cNvSpPr/>
          <p:nvPr/>
        </p:nvSpPr>
        <p:spPr>
          <a:xfrm>
            <a:off x="4883102" y="2809129"/>
            <a:ext cx="190488" cy="266676"/>
          </a:xfrm>
          <a:prstGeom prst="roundRect">
            <a:avLst>
              <a:gd name="adj" fmla="val 23335"/>
            </a:avLst>
          </a:prstGeom>
          <a:noFill/>
          <a:ln w="12700">
            <a:solidFill>
              <a:srgbClr val="14213D"/>
            </a:solidFill>
            <a:prstDash val="dash"/>
          </a:ln>
        </p:spPr>
      </p:sp>
      <p:sp>
        <p:nvSpPr>
          <p:cNvPr id="51" name="Shape 49"/>
          <p:cNvSpPr/>
          <p:nvPr/>
        </p:nvSpPr>
        <p:spPr>
          <a:xfrm>
            <a:off x="812752" y="3101218"/>
            <a:ext cx="10566375" cy="317500"/>
          </a:xfrm>
          <a:prstGeom prst="rect">
            <a:avLst/>
          </a:prstGeom>
          <a:solidFill>
            <a:srgbClr val="FDFCF9"/>
          </a:solidFill>
          <a:ln/>
        </p:spPr>
      </p:sp>
      <p:sp>
        <p:nvSpPr>
          <p:cNvPr id="52" name="Text 50"/>
          <p:cNvSpPr/>
          <p:nvPr/>
        </p:nvSpPr>
        <p:spPr>
          <a:xfrm>
            <a:off x="863552" y="3153292"/>
            <a:ext cx="2040636"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Dev (shared)</a:t>
            </a:r>
            <a:endParaRPr lang="en-US" sz="1200" dirty="0"/>
          </a:p>
        </p:txBody>
      </p:sp>
      <p:sp>
        <p:nvSpPr>
          <p:cNvPr id="53" name="Shape 51"/>
          <p:cNvSpPr/>
          <p:nvPr/>
        </p:nvSpPr>
        <p:spPr>
          <a:xfrm>
            <a:off x="2844752" y="3101218"/>
            <a:ext cx="8534375" cy="317500"/>
          </a:xfrm>
          <a:prstGeom prst="rect">
            <a:avLst/>
          </a:prstGeom>
          <a:gradFill rotWithShape="1">
            <a:gsLst>
              <a:gs pos="0">
                <a:srgbClr val="000000">
                  <a:alpha val="0"/>
                </a:srgbClr>
              </a:gs>
              <a:gs pos="99405">
                <a:srgbClr val="D9D5C8">
                  <a:alpha val="0"/>
                </a:srgbClr>
              </a:gs>
              <a:gs pos="99405">
                <a:srgbClr val="D9D5C8"/>
              </a:gs>
              <a:gs pos="100000">
                <a:srgbClr val="D9D5C8"/>
              </a:gs>
            </a:gsLst>
            <a:lin ang="0" scaled="0"/>
          </a:gradFill>
          <a:ln/>
        </p:spPr>
      </p:sp>
      <p:sp>
        <p:nvSpPr>
          <p:cNvPr id="54" name="Text 52"/>
          <p:cNvSpPr/>
          <p:nvPr/>
        </p:nvSpPr>
        <p:spPr>
          <a:xfrm>
            <a:off x="2844752" y="3120279"/>
            <a:ext cx="1016000" cy="279376"/>
          </a:xfrm>
          <a:prstGeom prst="roundRect">
            <a:avLst>
              <a:gd name="adj" fmla="val 18183"/>
            </a:avLst>
          </a:prstGeom>
          <a:solidFill>
            <a:srgbClr val="2B59C3"/>
          </a:solidFill>
          <a:ln/>
        </p:spPr>
        <p:txBody>
          <a:bodyPr wrap="none" lIns="48621" tIns="0" rIns="556513" bIns="0" rtlCol="0" anchor="ctr">
            <a:normAutofit/>
          </a:bodyPr>
          <a:lstStyle/>
          <a:p>
            <a:pPr algn="l" indent="0" marL="0">
              <a:lnSpc>
                <a:spcPts val="1680"/>
              </a:lnSpc>
              <a:buNone/>
            </a:pPr>
            <a:r>
              <a:rPr lang="en-US" sz="1200" b="1" dirty="0">
                <a:solidFill>
                  <a:srgbClr val="F7F6F2"/>
                </a:solidFill>
                <a:latin typeface="Arial" pitchFamily="34" charset="0"/>
                <a:ea typeface="Arial" pitchFamily="34" charset="-122"/>
                <a:cs typeface="Arial" pitchFamily="34" charset="-120"/>
              </a:rPr>
              <a:t>Infra</a:t>
            </a:r>
            <a:endParaRPr lang="en-US" sz="1200" dirty="0"/>
          </a:p>
        </p:txBody>
      </p:sp>
      <p:sp>
        <p:nvSpPr>
          <p:cNvPr id="55" name="Text 53"/>
          <p:cNvSpPr/>
          <p:nvPr/>
        </p:nvSpPr>
        <p:spPr>
          <a:xfrm>
            <a:off x="3860752" y="3120279"/>
            <a:ext cx="1016000" cy="279376"/>
          </a:xfrm>
          <a:prstGeom prst="roundRect">
            <a:avLst>
              <a:gd name="adj" fmla="val 18183"/>
            </a:avLst>
          </a:prstGeom>
          <a:solidFill>
            <a:srgbClr val="2B59C3"/>
          </a:solidFill>
          <a:ln/>
        </p:spPr>
        <p:txBody>
          <a:bodyPr wrap="none" lIns="48621" tIns="0" rIns="310992" bIns="0" rtlCol="0" anchor="ctr">
            <a:normAutofit/>
          </a:bodyPr>
          <a:lstStyle/>
          <a:p>
            <a:pPr algn="l" indent="0" marL="0">
              <a:lnSpc>
                <a:spcPts val="1680"/>
              </a:lnSpc>
              <a:buNone/>
            </a:pPr>
            <a:r>
              <a:rPr lang="en-US" sz="1200" b="1" dirty="0">
                <a:solidFill>
                  <a:srgbClr val="F7F6F2"/>
                </a:solidFill>
                <a:latin typeface="Arial" pitchFamily="34" charset="0"/>
                <a:ea typeface="Arial" pitchFamily="34" charset="-122"/>
                <a:cs typeface="Arial" pitchFamily="34" charset="-120"/>
              </a:rPr>
              <a:t>Cutover</a:t>
            </a:r>
            <a:endParaRPr lang="en-US" sz="1200" dirty="0"/>
          </a:p>
        </p:txBody>
      </p:sp>
      <p:sp>
        <p:nvSpPr>
          <p:cNvPr id="56" name="Text 54"/>
          <p:cNvSpPr/>
          <p:nvPr/>
        </p:nvSpPr>
        <p:spPr>
          <a:xfrm>
            <a:off x="863552" y="3470792"/>
            <a:ext cx="2040636"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UAT (shared)</a:t>
            </a:r>
            <a:endParaRPr lang="en-US" sz="1200" dirty="0"/>
          </a:p>
        </p:txBody>
      </p:sp>
      <p:sp>
        <p:nvSpPr>
          <p:cNvPr id="57" name="Shape 55"/>
          <p:cNvSpPr/>
          <p:nvPr/>
        </p:nvSpPr>
        <p:spPr>
          <a:xfrm>
            <a:off x="2844752" y="3418718"/>
            <a:ext cx="8534375" cy="317500"/>
          </a:xfrm>
          <a:prstGeom prst="rect">
            <a:avLst/>
          </a:prstGeom>
          <a:gradFill rotWithShape="1">
            <a:gsLst>
              <a:gs pos="0">
                <a:srgbClr val="000000">
                  <a:alpha val="0"/>
                </a:srgbClr>
              </a:gs>
              <a:gs pos="99405">
                <a:srgbClr val="D9D5C8">
                  <a:alpha val="0"/>
                </a:srgbClr>
              </a:gs>
              <a:gs pos="99405">
                <a:srgbClr val="D9D5C8"/>
              </a:gs>
              <a:gs pos="100000">
                <a:srgbClr val="D9D5C8"/>
              </a:gs>
            </a:gsLst>
            <a:lin ang="0" scaled="0"/>
          </a:gradFill>
          <a:ln/>
        </p:spPr>
      </p:sp>
      <p:sp>
        <p:nvSpPr>
          <p:cNvPr id="58" name="Text 56"/>
          <p:cNvSpPr/>
          <p:nvPr/>
        </p:nvSpPr>
        <p:spPr>
          <a:xfrm>
            <a:off x="2844752" y="3437779"/>
            <a:ext cx="1016000" cy="279376"/>
          </a:xfrm>
          <a:prstGeom prst="roundRect">
            <a:avLst>
              <a:gd name="adj" fmla="val 18183"/>
            </a:avLst>
          </a:prstGeom>
          <a:solidFill>
            <a:srgbClr val="2B59C3"/>
          </a:solidFill>
          <a:ln/>
        </p:spPr>
        <p:txBody>
          <a:bodyPr wrap="none" lIns="48621" tIns="0" rIns="556513" bIns="0" rtlCol="0" anchor="ctr">
            <a:normAutofit/>
          </a:bodyPr>
          <a:lstStyle/>
          <a:p>
            <a:pPr algn="l" indent="0" marL="0">
              <a:lnSpc>
                <a:spcPts val="1680"/>
              </a:lnSpc>
              <a:buNone/>
            </a:pPr>
            <a:r>
              <a:rPr lang="en-US" sz="1200" b="1" dirty="0">
                <a:solidFill>
                  <a:srgbClr val="F7F6F2"/>
                </a:solidFill>
                <a:latin typeface="Arial" pitchFamily="34" charset="0"/>
                <a:ea typeface="Arial" pitchFamily="34" charset="-122"/>
                <a:cs typeface="Arial" pitchFamily="34" charset="-120"/>
              </a:rPr>
              <a:t>Infra</a:t>
            </a:r>
            <a:endParaRPr lang="en-US" sz="1200" dirty="0"/>
          </a:p>
        </p:txBody>
      </p:sp>
      <p:sp>
        <p:nvSpPr>
          <p:cNvPr id="59" name="Text 57"/>
          <p:cNvSpPr/>
          <p:nvPr/>
        </p:nvSpPr>
        <p:spPr>
          <a:xfrm>
            <a:off x="3860752" y="3437779"/>
            <a:ext cx="1016000" cy="279376"/>
          </a:xfrm>
          <a:prstGeom prst="roundRect">
            <a:avLst>
              <a:gd name="adj" fmla="val 18183"/>
            </a:avLst>
          </a:prstGeom>
          <a:solidFill>
            <a:srgbClr val="2B59C3"/>
          </a:solidFill>
          <a:ln/>
        </p:spPr>
        <p:txBody>
          <a:bodyPr wrap="none" lIns="48621" tIns="0" rIns="310992" bIns="0" rtlCol="0" anchor="ctr">
            <a:normAutofit/>
          </a:bodyPr>
          <a:lstStyle/>
          <a:p>
            <a:pPr algn="l" indent="0" marL="0">
              <a:lnSpc>
                <a:spcPts val="1680"/>
              </a:lnSpc>
              <a:buNone/>
            </a:pPr>
            <a:r>
              <a:rPr lang="en-US" sz="1200" b="1" dirty="0">
                <a:solidFill>
                  <a:srgbClr val="F7F6F2"/>
                </a:solidFill>
                <a:latin typeface="Arial" pitchFamily="34" charset="0"/>
                <a:ea typeface="Arial" pitchFamily="34" charset="-122"/>
                <a:cs typeface="Arial" pitchFamily="34" charset="-120"/>
              </a:rPr>
              <a:t>Cutover</a:t>
            </a:r>
            <a:endParaRPr lang="en-US" sz="1200" dirty="0"/>
          </a:p>
        </p:txBody>
      </p:sp>
      <p:sp>
        <p:nvSpPr>
          <p:cNvPr id="60" name="Shape 58"/>
          <p:cNvSpPr/>
          <p:nvPr/>
        </p:nvSpPr>
        <p:spPr>
          <a:xfrm>
            <a:off x="812752" y="3736218"/>
            <a:ext cx="10566375" cy="317500"/>
          </a:xfrm>
          <a:prstGeom prst="rect">
            <a:avLst/>
          </a:prstGeom>
          <a:solidFill>
            <a:srgbClr val="FDFCF9"/>
          </a:solidFill>
          <a:ln/>
        </p:spPr>
      </p:sp>
      <p:sp>
        <p:nvSpPr>
          <p:cNvPr id="61" name="Text 59"/>
          <p:cNvSpPr/>
          <p:nvPr/>
        </p:nvSpPr>
        <p:spPr>
          <a:xfrm>
            <a:off x="863552" y="3788292"/>
            <a:ext cx="2040636"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Sign-off by team</a:t>
            </a:r>
            <a:endParaRPr lang="en-US" sz="1200" dirty="0"/>
          </a:p>
        </p:txBody>
      </p:sp>
      <p:sp>
        <p:nvSpPr>
          <p:cNvPr id="62" name="Shape 60"/>
          <p:cNvSpPr/>
          <p:nvPr/>
        </p:nvSpPr>
        <p:spPr>
          <a:xfrm>
            <a:off x="2844752" y="3736218"/>
            <a:ext cx="8534375" cy="317500"/>
          </a:xfrm>
          <a:prstGeom prst="rect">
            <a:avLst/>
          </a:prstGeom>
          <a:gradFill rotWithShape="1">
            <a:gsLst>
              <a:gs pos="0">
                <a:srgbClr val="000000">
                  <a:alpha val="0"/>
                </a:srgbClr>
              </a:gs>
              <a:gs pos="99405">
                <a:srgbClr val="D9D5C8">
                  <a:alpha val="0"/>
                </a:srgbClr>
              </a:gs>
              <a:gs pos="99405">
                <a:srgbClr val="D9D5C8"/>
              </a:gs>
              <a:gs pos="100000">
                <a:srgbClr val="D9D5C8"/>
              </a:gs>
            </a:gsLst>
            <a:lin ang="0" scaled="0"/>
          </a:gradFill>
          <a:ln/>
        </p:spPr>
      </p:sp>
      <p:sp>
        <p:nvSpPr>
          <p:cNvPr id="63" name="Text 61"/>
          <p:cNvSpPr/>
          <p:nvPr/>
        </p:nvSpPr>
        <p:spPr>
          <a:xfrm>
            <a:off x="2844752" y="3755279"/>
            <a:ext cx="508000" cy="279376"/>
          </a:xfrm>
          <a:prstGeom prst="roundRect">
            <a:avLst>
              <a:gd name="adj" fmla="val 18183"/>
            </a:avLst>
          </a:prstGeom>
          <a:solidFill>
            <a:srgbClr val="A9540A"/>
          </a:solidFill>
          <a:ln/>
        </p:spPr>
        <p:txBody>
          <a:bodyPr wrap="none" lIns="48621" tIns="0" rIns="99505" bIns="0" rtlCol="0" anchor="ctr">
            <a:normAutofit/>
          </a:bodyPr>
          <a:lstStyle/>
          <a:p>
            <a:pPr algn="l" indent="0" marL="0">
              <a:lnSpc>
                <a:spcPts val="1680"/>
              </a:lnSpc>
              <a:buNone/>
            </a:pPr>
            <a:r>
              <a:rPr lang="en-US" sz="1200" b="1" dirty="0">
                <a:solidFill>
                  <a:srgbClr val="F7F6F2"/>
                </a:solidFill>
                <a:latin typeface="Arial" pitchFamily="34" charset="0"/>
                <a:ea typeface="Arial" pitchFamily="34" charset="-122"/>
                <a:cs typeface="Arial" pitchFamily="34" charset="-120"/>
              </a:rPr>
              <a:t>LnF</a:t>
            </a:r>
            <a:endParaRPr lang="en-US" sz="1200" dirty="0"/>
          </a:p>
        </p:txBody>
      </p:sp>
      <p:sp>
        <p:nvSpPr>
          <p:cNvPr id="64" name="Text 62"/>
          <p:cNvSpPr/>
          <p:nvPr/>
        </p:nvSpPr>
        <p:spPr>
          <a:xfrm>
            <a:off x="3352752" y="3755279"/>
            <a:ext cx="1016000" cy="279376"/>
          </a:xfrm>
          <a:prstGeom prst="roundRect">
            <a:avLst>
              <a:gd name="adj" fmla="val 18183"/>
            </a:avLst>
          </a:prstGeom>
          <a:solidFill>
            <a:srgbClr val="A9540A"/>
          </a:solidFill>
          <a:ln/>
        </p:spPr>
        <p:txBody>
          <a:bodyPr wrap="none" lIns="0" tIns="0" rIns="0" bIns="0" rtlCol="0" anchor="ctr">
            <a:normAutofit/>
          </a:bodyPr>
          <a:lstStyle/>
          <a:p>
            <a:pPr algn="ctr" indent="0" marL="0">
              <a:lnSpc>
                <a:spcPts val="1680"/>
              </a:lnSpc>
              <a:buNone/>
            </a:pPr>
            <a:r>
              <a:rPr lang="en-US" sz="1200" b="1" dirty="0">
                <a:solidFill>
                  <a:srgbClr val="F7F6F2"/>
                </a:solidFill>
                <a:latin typeface="Arial" pitchFamily="34" charset="0"/>
                <a:ea typeface="Arial" pitchFamily="34" charset="-122"/>
                <a:cs typeface="Arial" pitchFamily="34" charset="-120"/>
              </a:rPr>
              <a:t>Capital, PnL</a:t>
            </a:r>
            <a:endParaRPr lang="en-US" sz="1200" dirty="0"/>
          </a:p>
        </p:txBody>
      </p:sp>
      <p:sp>
        <p:nvSpPr>
          <p:cNvPr id="65" name="Text 63"/>
          <p:cNvSpPr/>
          <p:nvPr/>
        </p:nvSpPr>
        <p:spPr>
          <a:xfrm>
            <a:off x="863552" y="4105792"/>
            <a:ext cx="2040636"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Production prep</a:t>
            </a:r>
            <a:endParaRPr lang="en-US" sz="1200" dirty="0"/>
          </a:p>
        </p:txBody>
      </p:sp>
      <p:sp>
        <p:nvSpPr>
          <p:cNvPr id="66" name="Shape 64"/>
          <p:cNvSpPr/>
          <p:nvPr/>
        </p:nvSpPr>
        <p:spPr>
          <a:xfrm>
            <a:off x="2844752" y="4053718"/>
            <a:ext cx="8534375" cy="317500"/>
          </a:xfrm>
          <a:prstGeom prst="rect">
            <a:avLst/>
          </a:prstGeom>
          <a:gradFill rotWithShape="1">
            <a:gsLst>
              <a:gs pos="0">
                <a:srgbClr val="000000">
                  <a:alpha val="0"/>
                </a:srgbClr>
              </a:gs>
              <a:gs pos="99405">
                <a:srgbClr val="D9D5C8">
                  <a:alpha val="0"/>
                </a:srgbClr>
              </a:gs>
              <a:gs pos="99405">
                <a:srgbClr val="D9D5C8"/>
              </a:gs>
              <a:gs pos="100000">
                <a:srgbClr val="D9D5C8"/>
              </a:gs>
            </a:gsLst>
            <a:lin ang="0" scaled="0"/>
          </a:gradFill>
          <a:ln/>
        </p:spPr>
      </p:sp>
      <p:sp>
        <p:nvSpPr>
          <p:cNvPr id="67" name="Text 65"/>
          <p:cNvSpPr/>
          <p:nvPr/>
        </p:nvSpPr>
        <p:spPr>
          <a:xfrm>
            <a:off x="2844752" y="4072779"/>
            <a:ext cx="1016000" cy="279376"/>
          </a:xfrm>
          <a:prstGeom prst="roundRect">
            <a:avLst>
              <a:gd name="adj" fmla="val 18183"/>
            </a:avLst>
          </a:prstGeom>
          <a:solidFill>
            <a:srgbClr val="14213D"/>
          </a:solidFill>
          <a:ln/>
        </p:spPr>
        <p:txBody>
          <a:bodyPr wrap="none" lIns="48621" tIns="0" rIns="158556" bIns="0" rtlCol="0" anchor="ctr">
            <a:normAutofit/>
          </a:bodyPr>
          <a:lstStyle/>
          <a:p>
            <a:pPr algn="l" indent="0" marL="0">
              <a:lnSpc>
                <a:spcPts val="1680"/>
              </a:lnSpc>
              <a:buNone/>
            </a:pPr>
            <a:r>
              <a:rPr lang="en-US" sz="1200" b="1" dirty="0">
                <a:solidFill>
                  <a:srgbClr val="F7F6F2"/>
                </a:solidFill>
                <a:latin typeface="Arial" pitchFamily="34" charset="0"/>
                <a:ea typeface="Arial" pitchFamily="34" charset="-122"/>
                <a:cs typeface="Arial" pitchFamily="34" charset="-120"/>
              </a:rPr>
              <a:t>Infra, plan</a:t>
            </a:r>
            <a:endParaRPr lang="en-US" sz="1200" dirty="0"/>
          </a:p>
        </p:txBody>
      </p:sp>
      <p:sp>
        <p:nvSpPr>
          <p:cNvPr id="68" name="Text 66"/>
          <p:cNvSpPr/>
          <p:nvPr/>
        </p:nvSpPr>
        <p:spPr>
          <a:xfrm>
            <a:off x="3860752" y="4072779"/>
            <a:ext cx="1016000" cy="279376"/>
          </a:xfrm>
          <a:prstGeom prst="roundRect">
            <a:avLst>
              <a:gd name="adj" fmla="val 18183"/>
            </a:avLst>
          </a:prstGeom>
          <a:solidFill>
            <a:srgbClr val="14213D"/>
          </a:solidFill>
          <a:ln/>
        </p:spPr>
        <p:txBody>
          <a:bodyPr wrap="none" lIns="48621" tIns="0" rIns="0" bIns="0" rtlCol="0" anchor="ctr">
            <a:normAutofit/>
          </a:bodyPr>
          <a:lstStyle/>
          <a:p>
            <a:pPr algn="l" indent="0" marL="0">
              <a:lnSpc>
                <a:spcPts val="1680"/>
              </a:lnSpc>
              <a:buNone/>
            </a:pPr>
            <a:r>
              <a:rPr lang="en-US" sz="1200" b="1" dirty="0">
                <a:solidFill>
                  <a:srgbClr val="F7F6F2"/>
                </a:solidFill>
                <a:latin typeface="Arial" pitchFamily="34" charset="0"/>
                <a:ea typeface="Arial" pitchFamily="34" charset="-122"/>
                <a:cs typeface="Arial" pitchFamily="34" charset="-120"/>
              </a:rPr>
              <a:t>Final checks</a:t>
            </a:r>
            <a:endParaRPr lang="en-US" sz="1200" dirty="0"/>
          </a:p>
        </p:txBody>
      </p:sp>
      <p:sp>
        <p:nvSpPr>
          <p:cNvPr id="69" name="Shape 67"/>
          <p:cNvSpPr/>
          <p:nvPr/>
        </p:nvSpPr>
        <p:spPr>
          <a:xfrm>
            <a:off x="812752" y="4371218"/>
            <a:ext cx="10566375" cy="317500"/>
          </a:xfrm>
          <a:prstGeom prst="rect">
            <a:avLst/>
          </a:prstGeom>
          <a:solidFill>
            <a:srgbClr val="FDFCF9"/>
          </a:solidFill>
          <a:ln/>
        </p:spPr>
      </p:sp>
      <p:sp>
        <p:nvSpPr>
          <p:cNvPr id="70" name="Text 68"/>
          <p:cNvSpPr/>
          <p:nvPr/>
        </p:nvSpPr>
        <p:spPr>
          <a:xfrm>
            <a:off x="863552" y="4423292"/>
            <a:ext cx="2040636"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Go-live, hypercare</a:t>
            </a:r>
            <a:endParaRPr lang="en-US" sz="1200" dirty="0"/>
          </a:p>
        </p:txBody>
      </p:sp>
      <p:sp>
        <p:nvSpPr>
          <p:cNvPr id="71" name="Shape 69"/>
          <p:cNvSpPr/>
          <p:nvPr/>
        </p:nvSpPr>
        <p:spPr>
          <a:xfrm>
            <a:off x="2844752" y="4371218"/>
            <a:ext cx="8534375" cy="317500"/>
          </a:xfrm>
          <a:prstGeom prst="rect">
            <a:avLst/>
          </a:prstGeom>
          <a:gradFill rotWithShape="1">
            <a:gsLst>
              <a:gs pos="0">
                <a:srgbClr val="000000">
                  <a:alpha val="0"/>
                </a:srgbClr>
              </a:gs>
              <a:gs pos="99405">
                <a:srgbClr val="D9D5C8">
                  <a:alpha val="0"/>
                </a:srgbClr>
              </a:gs>
              <a:gs pos="99405">
                <a:srgbClr val="D9D5C8"/>
              </a:gs>
              <a:gs pos="100000">
                <a:srgbClr val="D9D5C8"/>
              </a:gs>
            </a:gsLst>
            <a:lin ang="0" scaled="0"/>
          </a:gradFill>
          <a:ln/>
        </p:spPr>
      </p:sp>
      <p:sp>
        <p:nvSpPr>
          <p:cNvPr id="72" name="Text 70"/>
          <p:cNvSpPr/>
          <p:nvPr/>
        </p:nvSpPr>
        <p:spPr>
          <a:xfrm>
            <a:off x="2793952" y="4423292"/>
            <a:ext cx="1587500" cy="238690"/>
          </a:xfrm>
          <a:prstGeom prst="rect">
            <a:avLst/>
          </a:prstGeom>
          <a:noFill/>
          <a:ln/>
        </p:spPr>
        <p:txBody>
          <a:bodyPr wrap="none" lIns="0" tIns="0" rIns="0" bIns="0" rtlCol="0" anchor="t">
            <a:normAutofit/>
          </a:bodyPr>
          <a:lstStyle/>
          <a:p>
            <a:pPr algn="r" indent="0" marL="0">
              <a:lnSpc>
                <a:spcPts val="1680"/>
              </a:lnSpc>
              <a:buNone/>
            </a:pPr>
            <a:r>
              <a:rPr lang="en-US" sz="1200" b="1" dirty="0">
                <a:solidFill>
                  <a:srgbClr val="14213D"/>
                </a:solidFill>
                <a:latin typeface="Arial" pitchFamily="34" charset="0"/>
                <a:ea typeface="Arial" pitchFamily="34" charset="-122"/>
                <a:cs typeface="Arial" pitchFamily="34" charset="-120"/>
              </a:rPr>
              <a:t>Go-live Jan 16–18</a:t>
            </a:r>
            <a:endParaRPr lang="en-US" sz="1200" dirty="0"/>
          </a:p>
        </p:txBody>
      </p:sp>
      <p:sp>
        <p:nvSpPr>
          <p:cNvPr id="73" name="Shape 71"/>
          <p:cNvSpPr/>
          <p:nvPr/>
        </p:nvSpPr>
        <p:spPr>
          <a:xfrm>
            <a:off x="4438602" y="4396629"/>
            <a:ext cx="215864" cy="266676"/>
          </a:xfrm>
          <a:prstGeom prst="roundRect">
            <a:avLst>
              <a:gd name="adj" fmla="val 14708"/>
            </a:avLst>
          </a:prstGeom>
          <a:solidFill>
            <a:srgbClr val="E8B04A"/>
          </a:solidFill>
          <a:ln w="12700">
            <a:solidFill>
              <a:srgbClr val="14213D"/>
            </a:solidFill>
            <a:prstDash val="solid"/>
          </a:ln>
        </p:spPr>
      </p:sp>
      <p:sp>
        <p:nvSpPr>
          <p:cNvPr id="74" name="Text 72"/>
          <p:cNvSpPr/>
          <p:nvPr/>
        </p:nvSpPr>
        <p:spPr>
          <a:xfrm>
            <a:off x="4660816" y="4390279"/>
            <a:ext cx="838188" cy="279376"/>
          </a:xfrm>
          <a:prstGeom prst="roundRect">
            <a:avLst>
              <a:gd name="adj" fmla="val 18183"/>
            </a:avLst>
          </a:prstGeom>
          <a:solidFill>
            <a:srgbClr val="14213D"/>
          </a:solidFill>
          <a:ln/>
        </p:spPr>
        <p:txBody>
          <a:bodyPr wrap="none" lIns="48621" tIns="0" rIns="0" bIns="0" rtlCol="0" anchor="ctr">
            <a:normAutofit/>
          </a:bodyPr>
          <a:lstStyle/>
          <a:p>
            <a:pPr algn="l" indent="0" marL="0">
              <a:lnSpc>
                <a:spcPts val="1680"/>
              </a:lnSpc>
              <a:buNone/>
            </a:pPr>
            <a:r>
              <a:rPr lang="en-US" sz="1200" b="1" dirty="0">
                <a:solidFill>
                  <a:srgbClr val="F7F6F2"/>
                </a:solidFill>
                <a:latin typeface="Arial" pitchFamily="34" charset="0"/>
                <a:ea typeface="Arial" pitchFamily="34" charset="-122"/>
                <a:cs typeface="Arial" pitchFamily="34" charset="-120"/>
              </a:rPr>
              <a:t>Hypercare</a:t>
            </a:r>
            <a:endParaRPr lang="en-US" sz="1200" dirty="0"/>
          </a:p>
        </p:txBody>
      </p:sp>
      <p:sp>
        <p:nvSpPr>
          <p:cNvPr id="75" name="Shape 73"/>
          <p:cNvSpPr/>
          <p:nvPr/>
        </p:nvSpPr>
        <p:spPr>
          <a:xfrm>
            <a:off x="7721503" y="1831218"/>
            <a:ext cx="1295376" cy="2857500"/>
          </a:xfrm>
          <a:prstGeom prst="rect">
            <a:avLst/>
          </a:prstGeom>
          <a:solidFill>
            <a:srgbClr val="14213D">
              <a:alpha val="10000"/>
            </a:srgbClr>
          </a:solidFill>
          <a:ln/>
        </p:spPr>
      </p:sp>
      <p:sp>
        <p:nvSpPr>
          <p:cNvPr id="76" name="Shape 74"/>
          <p:cNvSpPr/>
          <p:nvPr/>
        </p:nvSpPr>
        <p:spPr>
          <a:xfrm>
            <a:off x="6273752" y="1755029"/>
            <a:ext cx="152376" cy="76188"/>
          </a:xfrm>
          <a:prstGeom prst="rect">
            <a:avLst/>
          </a:prstGeom>
          <a:gradFill rotWithShape="1">
            <a:gsLst>
              <a:gs pos="0">
                <a:srgbClr val="A9540A">
                  <a:alpha val="55000"/>
                </a:srgbClr>
              </a:gs>
              <a:gs pos="41667">
                <a:srgbClr val="A9540A">
                  <a:alpha val="55000"/>
                </a:srgbClr>
              </a:gs>
              <a:gs pos="41667">
                <a:srgbClr val="A9540A">
                  <a:alpha val="0"/>
                </a:srgbClr>
              </a:gs>
              <a:gs pos="100000">
                <a:srgbClr val="A9540A">
                  <a:alpha val="0"/>
                </a:srgbClr>
              </a:gs>
            </a:gsLst>
            <a:lin ang="18900000" scaled="0"/>
          </a:gradFill>
          <a:ln/>
        </p:spPr>
      </p:sp>
      <p:sp>
        <p:nvSpPr>
          <p:cNvPr id="77" name="Shape 75"/>
          <p:cNvSpPr/>
          <p:nvPr/>
        </p:nvSpPr>
        <p:spPr>
          <a:xfrm>
            <a:off x="8407316" y="1755029"/>
            <a:ext cx="152376" cy="76188"/>
          </a:xfrm>
          <a:prstGeom prst="rect">
            <a:avLst/>
          </a:prstGeom>
          <a:gradFill rotWithShape="1">
            <a:gsLst>
              <a:gs pos="0">
                <a:srgbClr val="A9540A">
                  <a:alpha val="55000"/>
                </a:srgbClr>
              </a:gs>
              <a:gs pos="41667">
                <a:srgbClr val="A9540A">
                  <a:alpha val="55000"/>
                </a:srgbClr>
              </a:gs>
              <a:gs pos="41667">
                <a:srgbClr val="A9540A">
                  <a:alpha val="0"/>
                </a:srgbClr>
              </a:gs>
              <a:gs pos="100000">
                <a:srgbClr val="A9540A">
                  <a:alpha val="0"/>
                </a:srgbClr>
              </a:gs>
            </a:gsLst>
            <a:lin ang="18900000" scaled="0"/>
          </a:gradFill>
          <a:ln/>
        </p:spPr>
      </p:sp>
      <p:sp>
        <p:nvSpPr>
          <p:cNvPr id="78" name="Shape 76"/>
          <p:cNvSpPr/>
          <p:nvPr/>
        </p:nvSpPr>
        <p:spPr>
          <a:xfrm>
            <a:off x="9016940" y="1755029"/>
            <a:ext cx="76188" cy="76188"/>
          </a:xfrm>
          <a:prstGeom prst="rect">
            <a:avLst/>
          </a:prstGeom>
          <a:gradFill rotWithShape="1">
            <a:gsLst>
              <a:gs pos="0">
                <a:srgbClr val="A9540A">
                  <a:alpha val="55000"/>
                </a:srgbClr>
              </a:gs>
              <a:gs pos="41667">
                <a:srgbClr val="A9540A">
                  <a:alpha val="55000"/>
                </a:srgbClr>
              </a:gs>
              <a:gs pos="41667">
                <a:srgbClr val="A9540A">
                  <a:alpha val="0"/>
                </a:srgbClr>
              </a:gs>
              <a:gs pos="100000">
                <a:srgbClr val="A9540A">
                  <a:alpha val="0"/>
                </a:srgbClr>
              </a:gs>
            </a:gsLst>
            <a:lin ang="18900000" scaled="0"/>
          </a:gradFill>
          <a:ln/>
        </p:spPr>
      </p:sp>
      <p:sp>
        <p:nvSpPr>
          <p:cNvPr id="79" name="Shape 77"/>
          <p:cNvSpPr/>
          <p:nvPr/>
        </p:nvSpPr>
        <p:spPr>
          <a:xfrm>
            <a:off x="10312315" y="1755029"/>
            <a:ext cx="76188" cy="76188"/>
          </a:xfrm>
          <a:prstGeom prst="rect">
            <a:avLst/>
          </a:prstGeom>
          <a:gradFill rotWithShape="1">
            <a:gsLst>
              <a:gs pos="0">
                <a:srgbClr val="A9540A">
                  <a:alpha val="55000"/>
                </a:srgbClr>
              </a:gs>
              <a:gs pos="41667">
                <a:srgbClr val="A9540A">
                  <a:alpha val="55000"/>
                </a:srgbClr>
              </a:gs>
              <a:gs pos="41667">
                <a:srgbClr val="A9540A">
                  <a:alpha val="0"/>
                </a:srgbClr>
              </a:gs>
              <a:gs pos="100000">
                <a:srgbClr val="A9540A">
                  <a:alpha val="0"/>
                </a:srgbClr>
              </a:gs>
            </a:gsLst>
            <a:lin ang="18900000" scaled="0"/>
          </a:gradFill>
          <a:ln/>
        </p:spPr>
      </p:sp>
      <p:sp>
        <p:nvSpPr>
          <p:cNvPr id="80" name="Text 78"/>
          <p:cNvSpPr/>
          <p:nvPr/>
        </p:nvSpPr>
        <p:spPr>
          <a:xfrm>
            <a:off x="812752" y="4802969"/>
            <a:ext cx="10883490" cy="23869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Blue: platform team · Orange: DAG-owning teams · Navy: production · Grey band: freeze Dec 15–31 · Hatched: holidays · Dashed: float</a:t>
            </a:r>
            <a:endParaRPr lang="en-US" sz="1200" dirty="0"/>
          </a:p>
        </p:txBody>
      </p:sp>
      <p:sp>
        <p:nvSpPr>
          <p:cNvPr id="81" name="Text 79"/>
          <p:cNvSpPr/>
          <p:nvPr/>
        </p:nvSpPr>
        <p:spPr>
          <a:xfrm>
            <a:off x="819102" y="5192664"/>
            <a:ext cx="241300" cy="241300"/>
          </a:xfrm>
          <a:custGeom>
            <a:avLst/>
            <a:gdLst/>
            <a:ahLst/>
            <a:cxnLst/>
            <a:rect l="l" t="t" r="r" b="b"/>
            <a:pathLst>
              <a:path w="241300" h="241300">
                <a:moveTo>
                  <a:pt x="120650" y="0"/>
                </a:moveTo>
                <a:lnTo>
                  <a:pt x="120650" y="0"/>
                </a:lnTo>
                <a:arcTo hR="120650" wR="120650" stAng="16200000" swAng="5400000"/>
                <a:lnTo>
                  <a:pt x="241300" y="120650"/>
                </a:lnTo>
                <a:arcTo hR="120650" wR="120650" stAng="0" swAng="5400000"/>
                <a:lnTo>
                  <a:pt x="120650" y="241300"/>
                </a:lnTo>
                <a:arcTo hR="120650" wR="120650" stAng="5400000" swAng="5400000"/>
                <a:lnTo>
                  <a:pt x="0" y="120650"/>
                </a:lnTo>
                <a:arcTo hR="120650" wR="120650" stAng="10800000" swAng="5400000"/>
                <a:close/>
              </a:path>
            </a:pathLst>
          </a:custGeom>
          <a:solidFill>
            <a:srgbClr val="E8B04A"/>
          </a:solidFill>
          <a:ln w="12700">
            <a:solidFill>
              <a:srgbClr val="14213D"/>
            </a:solidFill>
            <a:prstDash val="solid"/>
          </a:ln>
        </p:spPr>
        <p:txBody>
          <a:bodyPr wrap="square" lIns="5195" tIns="5195" rIns="5195" bIns="5195"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1</a:t>
            </a:r>
            <a:endParaRPr lang="en-US" sz="1200" dirty="0"/>
          </a:p>
        </p:txBody>
      </p:sp>
      <p:sp>
        <p:nvSpPr>
          <p:cNvPr id="82" name="Text 80"/>
          <p:cNvSpPr/>
          <p:nvPr/>
        </p:nvSpPr>
        <p:spPr>
          <a:xfrm>
            <a:off x="1130252" y="5130512"/>
            <a:ext cx="1430843" cy="20820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Arial" pitchFamily="34" charset="0"/>
                <a:ea typeface="Arial" pitchFamily="34" charset="-122"/>
                <a:cs typeface="Arial" pitchFamily="34" charset="-120"/>
              </a:rPr>
              <a:t>Nov 6</a:t>
            </a:r>
            <a:endParaRPr lang="en-US" sz="1200" dirty="0"/>
          </a:p>
        </p:txBody>
      </p:sp>
      <p:sp>
        <p:nvSpPr>
          <p:cNvPr id="83" name="Text 81"/>
          <p:cNvSpPr/>
          <p:nvPr/>
        </p:nvSpPr>
        <p:spPr>
          <a:xfrm>
            <a:off x="1130252" y="5313314"/>
            <a:ext cx="1430843" cy="208203"/>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4A5568"/>
                </a:solidFill>
                <a:latin typeface="Arial" pitchFamily="34" charset="0"/>
                <a:ea typeface="Arial" pitchFamily="34" charset="-122"/>
                <a:cs typeface="Arial" pitchFamily="34" charset="-120"/>
              </a:rPr>
              <a:t>QA sign-off</a:t>
            </a:r>
            <a:endParaRPr lang="en-US" sz="1200" dirty="0"/>
          </a:p>
        </p:txBody>
      </p:sp>
      <p:sp>
        <p:nvSpPr>
          <p:cNvPr id="84" name="Text 82"/>
          <p:cNvSpPr/>
          <p:nvPr/>
        </p:nvSpPr>
        <p:spPr>
          <a:xfrm>
            <a:off x="2592832" y="5192664"/>
            <a:ext cx="241300" cy="241300"/>
          </a:xfrm>
          <a:custGeom>
            <a:avLst/>
            <a:gdLst/>
            <a:ahLst/>
            <a:cxnLst/>
            <a:rect l="l" t="t" r="r" b="b"/>
            <a:pathLst>
              <a:path w="241300" h="241300">
                <a:moveTo>
                  <a:pt x="120650" y="0"/>
                </a:moveTo>
                <a:lnTo>
                  <a:pt x="120650" y="0"/>
                </a:lnTo>
                <a:arcTo hR="120650" wR="120650" stAng="16200000" swAng="5400000"/>
                <a:lnTo>
                  <a:pt x="241300" y="120650"/>
                </a:lnTo>
                <a:arcTo hR="120650" wR="120650" stAng="0" swAng="5400000"/>
                <a:lnTo>
                  <a:pt x="120650" y="241300"/>
                </a:lnTo>
                <a:arcTo hR="120650" wR="120650" stAng="5400000" swAng="5400000"/>
                <a:lnTo>
                  <a:pt x="0" y="120650"/>
                </a:lnTo>
                <a:arcTo hR="120650" wR="120650" stAng="10800000" swAng="5400000"/>
                <a:close/>
              </a:path>
            </a:pathLst>
          </a:custGeom>
          <a:solidFill>
            <a:srgbClr val="E8B04A"/>
          </a:solidFill>
          <a:ln w="12700">
            <a:solidFill>
              <a:srgbClr val="14213D"/>
            </a:solidFill>
            <a:prstDash val="solid"/>
          </a:ln>
        </p:spPr>
        <p:txBody>
          <a:bodyPr wrap="square" lIns="5195" tIns="5195" rIns="5195" bIns="5195"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2</a:t>
            </a:r>
            <a:endParaRPr lang="en-US" sz="1200" dirty="0"/>
          </a:p>
        </p:txBody>
      </p:sp>
      <p:sp>
        <p:nvSpPr>
          <p:cNvPr id="85" name="Text 83"/>
          <p:cNvSpPr/>
          <p:nvPr/>
        </p:nvSpPr>
        <p:spPr>
          <a:xfrm>
            <a:off x="2903982" y="5130512"/>
            <a:ext cx="1430903" cy="20820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Arial" pitchFamily="34" charset="0"/>
                <a:ea typeface="Arial" pitchFamily="34" charset="-122"/>
                <a:cs typeface="Arial" pitchFamily="34" charset="-120"/>
              </a:rPr>
              <a:t>Nov 20</a:t>
            </a:r>
            <a:endParaRPr lang="en-US" sz="1200" dirty="0"/>
          </a:p>
        </p:txBody>
      </p:sp>
      <p:sp>
        <p:nvSpPr>
          <p:cNvPr id="86" name="Text 84"/>
          <p:cNvSpPr/>
          <p:nvPr/>
        </p:nvSpPr>
        <p:spPr>
          <a:xfrm>
            <a:off x="2903982" y="5313314"/>
            <a:ext cx="1430903" cy="208203"/>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4A5568"/>
                </a:solidFill>
                <a:latin typeface="Arial" pitchFamily="34" charset="0"/>
                <a:ea typeface="Arial" pitchFamily="34" charset="-122"/>
                <a:cs typeface="Arial" pitchFamily="34" charset="-120"/>
              </a:rPr>
              <a:t>Dev stable</a:t>
            </a:r>
            <a:endParaRPr lang="en-US" sz="1200" dirty="0"/>
          </a:p>
        </p:txBody>
      </p:sp>
      <p:sp>
        <p:nvSpPr>
          <p:cNvPr id="87" name="Text 85"/>
          <p:cNvSpPr/>
          <p:nvPr/>
        </p:nvSpPr>
        <p:spPr>
          <a:xfrm>
            <a:off x="4366623" y="5192664"/>
            <a:ext cx="241300" cy="241300"/>
          </a:xfrm>
          <a:custGeom>
            <a:avLst/>
            <a:gdLst/>
            <a:ahLst/>
            <a:cxnLst/>
            <a:rect l="l" t="t" r="r" b="b"/>
            <a:pathLst>
              <a:path w="241300" h="241300">
                <a:moveTo>
                  <a:pt x="120650" y="0"/>
                </a:moveTo>
                <a:lnTo>
                  <a:pt x="120650" y="0"/>
                </a:lnTo>
                <a:arcTo hR="120650" wR="120650" stAng="16200000" swAng="5400000"/>
                <a:lnTo>
                  <a:pt x="241300" y="120650"/>
                </a:lnTo>
                <a:arcTo hR="120650" wR="120650" stAng="0" swAng="5400000"/>
                <a:lnTo>
                  <a:pt x="120650" y="241300"/>
                </a:lnTo>
                <a:arcTo hR="120650" wR="120650" stAng="5400000" swAng="5400000"/>
                <a:lnTo>
                  <a:pt x="0" y="120650"/>
                </a:lnTo>
                <a:arcTo hR="120650" wR="120650" stAng="10800000" swAng="5400000"/>
                <a:close/>
              </a:path>
            </a:pathLst>
          </a:custGeom>
          <a:solidFill>
            <a:srgbClr val="E8B04A"/>
          </a:solidFill>
          <a:ln w="12700">
            <a:solidFill>
              <a:srgbClr val="14213D"/>
            </a:solidFill>
            <a:prstDash val="solid"/>
          </a:ln>
        </p:spPr>
        <p:txBody>
          <a:bodyPr wrap="square" lIns="5195" tIns="5195" rIns="5195" bIns="5195"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3</a:t>
            </a:r>
            <a:endParaRPr lang="en-US" sz="1200" dirty="0"/>
          </a:p>
        </p:txBody>
      </p:sp>
      <p:sp>
        <p:nvSpPr>
          <p:cNvPr id="88" name="Text 86"/>
          <p:cNvSpPr/>
          <p:nvPr/>
        </p:nvSpPr>
        <p:spPr>
          <a:xfrm>
            <a:off x="4677773" y="5130512"/>
            <a:ext cx="1430903" cy="20820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Arial" pitchFamily="34" charset="0"/>
                <a:ea typeface="Arial" pitchFamily="34" charset="-122"/>
                <a:cs typeface="Arial" pitchFamily="34" charset="-120"/>
              </a:rPr>
              <a:t>Dec 4</a:t>
            </a:r>
            <a:endParaRPr lang="en-US" sz="1200" dirty="0"/>
          </a:p>
        </p:txBody>
      </p:sp>
      <p:sp>
        <p:nvSpPr>
          <p:cNvPr id="89" name="Text 87"/>
          <p:cNvSpPr/>
          <p:nvPr/>
        </p:nvSpPr>
        <p:spPr>
          <a:xfrm>
            <a:off x="4677773" y="5313314"/>
            <a:ext cx="1430903" cy="208203"/>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4A5568"/>
                </a:solidFill>
                <a:latin typeface="Arial" pitchFamily="34" charset="0"/>
                <a:ea typeface="Arial" pitchFamily="34" charset="-122"/>
                <a:cs typeface="Arial" pitchFamily="34" charset="-120"/>
              </a:rPr>
              <a:t>LnF sign-off</a:t>
            </a:r>
            <a:endParaRPr lang="en-US" sz="1200" dirty="0"/>
          </a:p>
        </p:txBody>
      </p:sp>
      <p:sp>
        <p:nvSpPr>
          <p:cNvPr id="90" name="Text 88"/>
          <p:cNvSpPr/>
          <p:nvPr/>
        </p:nvSpPr>
        <p:spPr>
          <a:xfrm>
            <a:off x="6140414" y="5192664"/>
            <a:ext cx="241300" cy="241300"/>
          </a:xfrm>
          <a:custGeom>
            <a:avLst/>
            <a:gdLst/>
            <a:ahLst/>
            <a:cxnLst/>
            <a:rect l="l" t="t" r="r" b="b"/>
            <a:pathLst>
              <a:path w="241300" h="241300">
                <a:moveTo>
                  <a:pt x="120650" y="0"/>
                </a:moveTo>
                <a:lnTo>
                  <a:pt x="120650" y="0"/>
                </a:lnTo>
                <a:arcTo hR="120650" wR="120650" stAng="16200000" swAng="5400000"/>
                <a:lnTo>
                  <a:pt x="241300" y="120650"/>
                </a:lnTo>
                <a:arcTo hR="120650" wR="120650" stAng="0" swAng="5400000"/>
                <a:lnTo>
                  <a:pt x="120650" y="241300"/>
                </a:lnTo>
                <a:arcTo hR="120650" wR="120650" stAng="5400000" swAng="5400000"/>
                <a:lnTo>
                  <a:pt x="0" y="120650"/>
                </a:lnTo>
                <a:arcTo hR="120650" wR="120650" stAng="10800000" swAng="5400000"/>
                <a:close/>
              </a:path>
            </a:pathLst>
          </a:custGeom>
          <a:solidFill>
            <a:srgbClr val="E8B04A"/>
          </a:solidFill>
          <a:ln w="12700">
            <a:solidFill>
              <a:srgbClr val="14213D"/>
            </a:solidFill>
            <a:prstDash val="solid"/>
          </a:ln>
        </p:spPr>
        <p:txBody>
          <a:bodyPr wrap="square" lIns="5195" tIns="5195" rIns="5195" bIns="5195"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4</a:t>
            </a:r>
            <a:endParaRPr lang="en-US" sz="1200" dirty="0"/>
          </a:p>
        </p:txBody>
      </p:sp>
      <p:sp>
        <p:nvSpPr>
          <p:cNvPr id="91" name="Text 89"/>
          <p:cNvSpPr/>
          <p:nvPr/>
        </p:nvSpPr>
        <p:spPr>
          <a:xfrm>
            <a:off x="6451564" y="5130512"/>
            <a:ext cx="1430903" cy="20820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Arial" pitchFamily="34" charset="0"/>
                <a:ea typeface="Arial" pitchFamily="34" charset="-122"/>
                <a:cs typeface="Arial" pitchFamily="34" charset="-120"/>
              </a:rPr>
              <a:t>Dec 18</a:t>
            </a:r>
            <a:endParaRPr lang="en-US" sz="1200" dirty="0"/>
          </a:p>
        </p:txBody>
      </p:sp>
      <p:sp>
        <p:nvSpPr>
          <p:cNvPr id="92" name="Text 90"/>
          <p:cNvSpPr/>
          <p:nvPr/>
        </p:nvSpPr>
        <p:spPr>
          <a:xfrm>
            <a:off x="6451564" y="5313314"/>
            <a:ext cx="1430903" cy="208203"/>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4A5568"/>
                </a:solidFill>
                <a:latin typeface="Arial" pitchFamily="34" charset="0"/>
                <a:ea typeface="Arial" pitchFamily="34" charset="-122"/>
                <a:cs typeface="Arial" pitchFamily="34" charset="-120"/>
              </a:rPr>
              <a:t>UAT sign-off</a:t>
            </a:r>
            <a:endParaRPr lang="en-US" sz="1200" dirty="0"/>
          </a:p>
        </p:txBody>
      </p:sp>
      <p:sp>
        <p:nvSpPr>
          <p:cNvPr id="93" name="Text 91"/>
          <p:cNvSpPr/>
          <p:nvPr/>
        </p:nvSpPr>
        <p:spPr>
          <a:xfrm>
            <a:off x="7914204" y="5192664"/>
            <a:ext cx="241300" cy="241300"/>
          </a:xfrm>
          <a:custGeom>
            <a:avLst/>
            <a:gdLst/>
            <a:ahLst/>
            <a:cxnLst/>
            <a:rect l="l" t="t" r="r" b="b"/>
            <a:pathLst>
              <a:path w="241300" h="241300">
                <a:moveTo>
                  <a:pt x="120650" y="0"/>
                </a:moveTo>
                <a:lnTo>
                  <a:pt x="120650" y="0"/>
                </a:lnTo>
                <a:arcTo hR="120650" wR="120650" stAng="16200000" swAng="5400000"/>
                <a:lnTo>
                  <a:pt x="241300" y="120650"/>
                </a:lnTo>
                <a:arcTo hR="120650" wR="120650" stAng="0" swAng="5400000"/>
                <a:lnTo>
                  <a:pt x="120650" y="241300"/>
                </a:lnTo>
                <a:arcTo hR="120650" wR="120650" stAng="5400000" swAng="5400000"/>
                <a:lnTo>
                  <a:pt x="0" y="120650"/>
                </a:lnTo>
                <a:arcTo hR="120650" wR="120650" stAng="10800000" swAng="5400000"/>
                <a:close/>
              </a:path>
            </a:pathLst>
          </a:custGeom>
          <a:solidFill>
            <a:srgbClr val="E8B04A"/>
          </a:solidFill>
          <a:ln w="12700">
            <a:solidFill>
              <a:srgbClr val="14213D"/>
            </a:solidFill>
            <a:prstDash val="solid"/>
          </a:ln>
        </p:spPr>
        <p:txBody>
          <a:bodyPr wrap="square" lIns="5195" tIns="5195" rIns="5195" bIns="5195"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5</a:t>
            </a:r>
            <a:endParaRPr lang="en-US" sz="1200" dirty="0"/>
          </a:p>
        </p:txBody>
      </p:sp>
      <p:sp>
        <p:nvSpPr>
          <p:cNvPr id="94" name="Text 92"/>
          <p:cNvSpPr/>
          <p:nvPr/>
        </p:nvSpPr>
        <p:spPr>
          <a:xfrm>
            <a:off x="8225354" y="5130512"/>
            <a:ext cx="1430903" cy="20820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Arial" pitchFamily="34" charset="0"/>
                <a:ea typeface="Arial" pitchFamily="34" charset="-122"/>
                <a:cs typeface="Arial" pitchFamily="34" charset="-120"/>
              </a:rPr>
              <a:t>Jan 13</a:t>
            </a:r>
            <a:endParaRPr lang="en-US" sz="1200" dirty="0"/>
          </a:p>
        </p:txBody>
      </p:sp>
      <p:sp>
        <p:nvSpPr>
          <p:cNvPr id="95" name="Text 93"/>
          <p:cNvSpPr/>
          <p:nvPr/>
        </p:nvSpPr>
        <p:spPr>
          <a:xfrm>
            <a:off x="8225354" y="5313314"/>
            <a:ext cx="1430903" cy="208203"/>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4A5568"/>
                </a:solidFill>
                <a:latin typeface="Arial" pitchFamily="34" charset="0"/>
                <a:ea typeface="Arial" pitchFamily="34" charset="-122"/>
                <a:cs typeface="Arial" pitchFamily="34" charset="-120"/>
              </a:rPr>
              <a:t>Go/no-go</a:t>
            </a:r>
            <a:endParaRPr lang="en-US" sz="1200" dirty="0"/>
          </a:p>
        </p:txBody>
      </p:sp>
      <p:sp>
        <p:nvSpPr>
          <p:cNvPr id="96" name="Text 94"/>
          <p:cNvSpPr/>
          <p:nvPr/>
        </p:nvSpPr>
        <p:spPr>
          <a:xfrm>
            <a:off x="9687995" y="5192664"/>
            <a:ext cx="241300" cy="241300"/>
          </a:xfrm>
          <a:custGeom>
            <a:avLst/>
            <a:gdLst/>
            <a:ahLst/>
            <a:cxnLst/>
            <a:rect l="l" t="t" r="r" b="b"/>
            <a:pathLst>
              <a:path w="241300" h="241300">
                <a:moveTo>
                  <a:pt x="120650" y="0"/>
                </a:moveTo>
                <a:lnTo>
                  <a:pt x="120650" y="0"/>
                </a:lnTo>
                <a:arcTo hR="120650" wR="120650" stAng="16200000" swAng="5400000"/>
                <a:lnTo>
                  <a:pt x="241300" y="120650"/>
                </a:lnTo>
                <a:arcTo hR="120650" wR="120650" stAng="0" swAng="5400000"/>
                <a:lnTo>
                  <a:pt x="120650" y="241300"/>
                </a:lnTo>
                <a:arcTo hR="120650" wR="120650" stAng="5400000" swAng="5400000"/>
                <a:lnTo>
                  <a:pt x="0" y="120650"/>
                </a:lnTo>
                <a:arcTo hR="120650" wR="120650" stAng="10800000" swAng="5400000"/>
                <a:close/>
              </a:path>
            </a:pathLst>
          </a:custGeom>
          <a:solidFill>
            <a:srgbClr val="E8B04A"/>
          </a:solidFill>
          <a:ln w="12700">
            <a:solidFill>
              <a:srgbClr val="14213D"/>
            </a:solidFill>
            <a:prstDash val="solid"/>
          </a:ln>
        </p:spPr>
        <p:txBody>
          <a:bodyPr wrap="square" lIns="5195" tIns="5195" rIns="5195" bIns="5195"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6</a:t>
            </a:r>
            <a:endParaRPr lang="en-US" sz="1200" dirty="0"/>
          </a:p>
        </p:txBody>
      </p:sp>
      <p:sp>
        <p:nvSpPr>
          <p:cNvPr id="97" name="Text 95"/>
          <p:cNvSpPr/>
          <p:nvPr/>
        </p:nvSpPr>
        <p:spPr>
          <a:xfrm>
            <a:off x="9999145" y="5130512"/>
            <a:ext cx="1430903" cy="208203"/>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213D"/>
                </a:solidFill>
                <a:latin typeface="Arial" pitchFamily="34" charset="0"/>
                <a:ea typeface="Arial" pitchFamily="34" charset="-122"/>
                <a:cs typeface="Arial" pitchFamily="34" charset="-120"/>
              </a:rPr>
              <a:t>Jan 16–18</a:t>
            </a:r>
            <a:endParaRPr lang="en-US" sz="1200" dirty="0"/>
          </a:p>
        </p:txBody>
      </p:sp>
      <p:sp>
        <p:nvSpPr>
          <p:cNvPr id="98" name="Text 96"/>
          <p:cNvSpPr/>
          <p:nvPr/>
        </p:nvSpPr>
        <p:spPr>
          <a:xfrm>
            <a:off x="9999145" y="5313314"/>
            <a:ext cx="1430903" cy="208203"/>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4A5568"/>
                </a:solidFill>
                <a:latin typeface="Arial" pitchFamily="34" charset="0"/>
                <a:ea typeface="Arial" pitchFamily="34" charset="-122"/>
                <a:cs typeface="Arial" pitchFamily="34" charset="-120"/>
              </a:rPr>
              <a:t>Production go-live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752" y="812752"/>
            <a:ext cx="10889932" cy="434362"/>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Arial" pitchFamily="34" charset="0"/>
                <a:ea typeface="Arial" pitchFamily="34" charset="-122"/>
                <a:cs typeface="Arial" pitchFamily="34" charset="-120"/>
              </a:rPr>
              <a:t>Iterations and exit gates</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049494" y="1867538"/>
          <a:ext cx="10554830" cy="3836759"/>
        </p:xfrm>
        <a:graphic>
          <a:graphicData uri="http://schemas.openxmlformats.org/drawingml/2006/table">
            <a:tbl>
              <a:tblPr/>
              <a:tblGrid>
                <a:gridCol w="1055483"/>
                <a:gridCol w="1477676"/>
                <a:gridCol w="5066318"/>
                <a:gridCol w="2955352"/>
              </a:tblGrid>
              <a:tr h="331511">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Iteration</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Dates</a:t>
                      </a:r>
                      <a:endParaRPr lang="en-US" sz="1200" dirty="0">
                        <a:latin typeface="Arial" charset="0"/>
                        <a:ea typeface="Arial" charset="0"/>
                        <a:cs typeface="Arial"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Scope</a:t>
                      </a:r>
                      <a:endParaRPr lang="en-US" sz="1200" dirty="0">
                        <a:latin typeface="Arial" charset="0"/>
                        <a:ea typeface="Arial" charset="0"/>
                        <a:cs typeface="Arial"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Exit gate</a:t>
                      </a:r>
                      <a:endParaRPr lang="en-US" sz="1200" dirty="0">
                        <a:latin typeface="Arial" charset="0"/>
                        <a:ea typeface="Arial" charset="0"/>
                        <a:cs typeface="Arial"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54480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Iter 1</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Oct 12–23</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DAG scan, Python 3.14 audit, vulnerability scan; QA build with a copy of the Dev DB</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QA runs a copy of Dev on v2</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54480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Iter 2</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Oct 26–Nov 6</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v3 image, Helm design; QA DB migration (clone, trim, migrate, validate) and rollback test; Dev infrastructure</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QA DB migrated and timed; QA signed off (latest Nov 11)</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r>
              <a:tr h="33151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Iter 3</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Nov 9–20</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Dev DB migration, cutover and rollback test; UAT infrastructure</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Dev stable; teams build on v3</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3151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Iter 4</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Nov 23–Dec 4</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UAT DB migration, cutover and rollback test; LnF full test and sign-off</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LnF signed off</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r>
              <a:tr h="54480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Iter 5</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Dec 7–18</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Capital and PnL full test and sign-off; production infrastructure, runbook; timed DB migration rehearsal on a production clone</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UAT signed off; production ready; migration time known</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3151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Freeze</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Dec 21–Jan 3</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Year-end freeze and holidays; overflow testing only</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Held as buffer</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r>
              <a:tr h="54480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Iter 6</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Jan 4–15</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Final checks, go/no-go Jan 13; production DB migration and go-live Jan 16–18</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Production on v3; v2 DB untouched</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3151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Iter 7</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Jan 18–29</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Hypercare; Airflow 2 on standby</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No Sev1 for 7 days</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752" y="812752"/>
            <a:ext cx="10883490" cy="434362"/>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Arial" pitchFamily="34" charset="0"/>
                <a:ea typeface="Arial" pitchFamily="34" charset="-122"/>
                <a:cs typeface="Arial" pitchFamily="34" charset="-120"/>
              </a:rPr>
              <a:t>Capacity and load by iteration</a:t>
            </a:r>
            <a:endParaRPr lang="en-US" sz="2800" dirty="0"/>
          </a:p>
        </p:txBody>
      </p:sp>
      <p:sp>
        <p:nvSpPr>
          <p:cNvPr id="3" name="Text 1"/>
          <p:cNvSpPr/>
          <p:nvPr/>
        </p:nvSpPr>
        <p:spPr>
          <a:xfrm>
            <a:off x="812752" y="1374090"/>
            <a:ext cx="7194549" cy="27428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Arial" pitchFamily="34" charset="0"/>
                <a:ea typeface="Arial" pitchFamily="34" charset="-122"/>
                <a:cs typeface="Arial" pitchFamily="34" charset="-120"/>
              </a:rPr>
              <a:t>Planned load vs capacity, person-days (indicative)</a:t>
            </a:r>
            <a:endParaRPr lang="en-US" sz="1400" dirty="0"/>
          </a:p>
        </p:txBody>
      </p:sp>
      <p:sp>
        <p:nvSpPr>
          <p:cNvPr id="4" name="Text 2"/>
          <p:cNvSpPr/>
          <p:nvPr/>
        </p:nvSpPr>
        <p:spPr>
          <a:xfrm>
            <a:off x="812752" y="1732180"/>
            <a:ext cx="1574800" cy="23869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Iter 1 · Oct 12–23</a:t>
            </a:r>
            <a:endParaRPr lang="en-US" sz="1200" dirty="0"/>
          </a:p>
        </p:txBody>
      </p:sp>
      <p:sp>
        <p:nvSpPr>
          <p:cNvPr id="5" name="Shape 3"/>
          <p:cNvSpPr/>
          <p:nvPr/>
        </p:nvSpPr>
        <p:spPr>
          <a:xfrm>
            <a:off x="2425628" y="1737291"/>
            <a:ext cx="2667000" cy="76188"/>
          </a:xfrm>
          <a:prstGeom prst="roundRect">
            <a:avLst>
              <a:gd name="adj" fmla="val 33339"/>
            </a:avLst>
          </a:prstGeom>
          <a:solidFill>
            <a:srgbClr val="C9C5B8"/>
          </a:solidFill>
          <a:ln/>
        </p:spPr>
      </p:sp>
      <p:sp>
        <p:nvSpPr>
          <p:cNvPr id="6" name="Shape 4"/>
          <p:cNvSpPr/>
          <p:nvPr/>
        </p:nvSpPr>
        <p:spPr>
          <a:xfrm>
            <a:off x="2425628" y="1838854"/>
            <a:ext cx="2997188" cy="101564"/>
          </a:xfrm>
          <a:prstGeom prst="roundRect">
            <a:avLst>
              <a:gd name="adj" fmla="val 25009"/>
            </a:avLst>
          </a:prstGeom>
          <a:solidFill>
            <a:srgbClr val="A9540A"/>
          </a:solidFill>
          <a:ln/>
        </p:spPr>
      </p:sp>
      <p:sp>
        <p:nvSpPr>
          <p:cNvPr id="7" name="Text 5"/>
          <p:cNvSpPr/>
          <p:nvPr/>
        </p:nvSpPr>
        <p:spPr>
          <a:xfrm>
            <a:off x="6324503" y="1732180"/>
            <a:ext cx="1160847"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63 vs 56 · 113%</a:t>
            </a:r>
            <a:endParaRPr lang="en-US" sz="1200" dirty="0"/>
          </a:p>
        </p:txBody>
      </p:sp>
      <p:sp>
        <p:nvSpPr>
          <p:cNvPr id="8" name="Text 6"/>
          <p:cNvSpPr/>
          <p:nvPr/>
        </p:nvSpPr>
        <p:spPr>
          <a:xfrm>
            <a:off x="812752" y="2100431"/>
            <a:ext cx="1574800" cy="23869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Iter 2 · Oct 26–Nov 6</a:t>
            </a:r>
            <a:endParaRPr lang="en-US" sz="1200" dirty="0"/>
          </a:p>
        </p:txBody>
      </p:sp>
      <p:sp>
        <p:nvSpPr>
          <p:cNvPr id="9" name="Shape 7"/>
          <p:cNvSpPr/>
          <p:nvPr/>
        </p:nvSpPr>
        <p:spPr>
          <a:xfrm>
            <a:off x="2425628" y="2105543"/>
            <a:ext cx="2667000" cy="76188"/>
          </a:xfrm>
          <a:prstGeom prst="roundRect">
            <a:avLst>
              <a:gd name="adj" fmla="val 33339"/>
            </a:avLst>
          </a:prstGeom>
          <a:solidFill>
            <a:srgbClr val="C9C5B8"/>
          </a:solidFill>
          <a:ln/>
        </p:spPr>
      </p:sp>
      <p:sp>
        <p:nvSpPr>
          <p:cNvPr id="10" name="Shape 8"/>
          <p:cNvSpPr/>
          <p:nvPr/>
        </p:nvSpPr>
        <p:spPr>
          <a:xfrm>
            <a:off x="2425628" y="2207106"/>
            <a:ext cx="3759188" cy="101564"/>
          </a:xfrm>
          <a:prstGeom prst="roundRect">
            <a:avLst>
              <a:gd name="adj" fmla="val 25009"/>
            </a:avLst>
          </a:prstGeom>
          <a:solidFill>
            <a:srgbClr val="A9540A"/>
          </a:solidFill>
          <a:ln/>
        </p:spPr>
      </p:sp>
      <p:sp>
        <p:nvSpPr>
          <p:cNvPr id="11" name="Text 9"/>
          <p:cNvSpPr/>
          <p:nvPr/>
        </p:nvSpPr>
        <p:spPr>
          <a:xfrm>
            <a:off x="6324503" y="2100431"/>
            <a:ext cx="1169266"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79 vs 56 · 141%</a:t>
            </a:r>
            <a:endParaRPr lang="en-US" sz="1200" dirty="0"/>
          </a:p>
        </p:txBody>
      </p:sp>
      <p:sp>
        <p:nvSpPr>
          <p:cNvPr id="12" name="Text 10"/>
          <p:cNvSpPr/>
          <p:nvPr/>
        </p:nvSpPr>
        <p:spPr>
          <a:xfrm>
            <a:off x="812752" y="2468683"/>
            <a:ext cx="1574800" cy="23869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Iter 3 · Nov 9–20</a:t>
            </a:r>
            <a:endParaRPr lang="en-US" sz="1200" dirty="0"/>
          </a:p>
        </p:txBody>
      </p:sp>
      <p:sp>
        <p:nvSpPr>
          <p:cNvPr id="13" name="Shape 11"/>
          <p:cNvSpPr/>
          <p:nvPr/>
        </p:nvSpPr>
        <p:spPr>
          <a:xfrm>
            <a:off x="2425628" y="2473795"/>
            <a:ext cx="2667000" cy="76188"/>
          </a:xfrm>
          <a:prstGeom prst="roundRect">
            <a:avLst>
              <a:gd name="adj" fmla="val 33339"/>
            </a:avLst>
          </a:prstGeom>
          <a:solidFill>
            <a:srgbClr val="C9C5B8"/>
          </a:solidFill>
          <a:ln/>
        </p:spPr>
      </p:sp>
      <p:sp>
        <p:nvSpPr>
          <p:cNvPr id="14" name="Shape 12"/>
          <p:cNvSpPr/>
          <p:nvPr/>
        </p:nvSpPr>
        <p:spPr>
          <a:xfrm>
            <a:off x="2425628" y="2575358"/>
            <a:ext cx="2235188" cy="101564"/>
          </a:xfrm>
          <a:prstGeom prst="roundRect">
            <a:avLst>
              <a:gd name="adj" fmla="val 25009"/>
            </a:avLst>
          </a:prstGeom>
          <a:solidFill>
            <a:srgbClr val="2B59C3"/>
          </a:solidFill>
          <a:ln/>
        </p:spPr>
      </p:sp>
      <p:sp>
        <p:nvSpPr>
          <p:cNvPr id="15" name="Text 13"/>
          <p:cNvSpPr/>
          <p:nvPr/>
        </p:nvSpPr>
        <p:spPr>
          <a:xfrm>
            <a:off x="6324503" y="2468683"/>
            <a:ext cx="1084539"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47 vs 56 · 84%</a:t>
            </a:r>
            <a:endParaRPr lang="en-US" sz="1200" dirty="0"/>
          </a:p>
        </p:txBody>
      </p:sp>
      <p:sp>
        <p:nvSpPr>
          <p:cNvPr id="16" name="Text 14"/>
          <p:cNvSpPr/>
          <p:nvPr/>
        </p:nvSpPr>
        <p:spPr>
          <a:xfrm>
            <a:off x="812752" y="2836935"/>
            <a:ext cx="1574800" cy="23869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Iter 4 · Nov 23–Dec 4</a:t>
            </a:r>
            <a:endParaRPr lang="en-US" sz="1200" dirty="0"/>
          </a:p>
        </p:txBody>
      </p:sp>
      <p:sp>
        <p:nvSpPr>
          <p:cNvPr id="17" name="Shape 15"/>
          <p:cNvSpPr/>
          <p:nvPr/>
        </p:nvSpPr>
        <p:spPr>
          <a:xfrm>
            <a:off x="2425628" y="2842045"/>
            <a:ext cx="2133564" cy="76188"/>
          </a:xfrm>
          <a:prstGeom prst="roundRect">
            <a:avLst>
              <a:gd name="adj" fmla="val 33339"/>
            </a:avLst>
          </a:prstGeom>
          <a:solidFill>
            <a:srgbClr val="C9C5B8"/>
          </a:solidFill>
          <a:ln/>
        </p:spPr>
      </p:sp>
      <p:sp>
        <p:nvSpPr>
          <p:cNvPr id="18" name="Shape 16"/>
          <p:cNvSpPr/>
          <p:nvPr/>
        </p:nvSpPr>
        <p:spPr>
          <a:xfrm>
            <a:off x="2425628" y="2943609"/>
            <a:ext cx="1473188" cy="101564"/>
          </a:xfrm>
          <a:prstGeom prst="roundRect">
            <a:avLst>
              <a:gd name="adj" fmla="val 25009"/>
            </a:avLst>
          </a:prstGeom>
          <a:solidFill>
            <a:srgbClr val="2B59C3"/>
          </a:solidFill>
          <a:ln/>
        </p:spPr>
      </p:sp>
      <p:sp>
        <p:nvSpPr>
          <p:cNvPr id="19" name="Text 17"/>
          <p:cNvSpPr/>
          <p:nvPr/>
        </p:nvSpPr>
        <p:spPr>
          <a:xfrm>
            <a:off x="6324503" y="2836935"/>
            <a:ext cx="1084539"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31 vs 45 · 69%</a:t>
            </a:r>
            <a:endParaRPr lang="en-US" sz="1200" dirty="0"/>
          </a:p>
        </p:txBody>
      </p:sp>
      <p:sp>
        <p:nvSpPr>
          <p:cNvPr id="20" name="Text 18"/>
          <p:cNvSpPr/>
          <p:nvPr/>
        </p:nvSpPr>
        <p:spPr>
          <a:xfrm>
            <a:off x="812752" y="3205186"/>
            <a:ext cx="1574800" cy="23869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Iter 5 · Dec 7–18</a:t>
            </a:r>
            <a:endParaRPr lang="en-US" sz="1200" dirty="0"/>
          </a:p>
        </p:txBody>
      </p:sp>
      <p:sp>
        <p:nvSpPr>
          <p:cNvPr id="21" name="Shape 19"/>
          <p:cNvSpPr/>
          <p:nvPr/>
        </p:nvSpPr>
        <p:spPr>
          <a:xfrm>
            <a:off x="2425628" y="3210297"/>
            <a:ext cx="2667000" cy="76188"/>
          </a:xfrm>
          <a:prstGeom prst="roundRect">
            <a:avLst>
              <a:gd name="adj" fmla="val 33339"/>
            </a:avLst>
          </a:prstGeom>
          <a:solidFill>
            <a:srgbClr val="C9C5B8"/>
          </a:solidFill>
          <a:ln/>
        </p:spPr>
      </p:sp>
      <p:sp>
        <p:nvSpPr>
          <p:cNvPr id="22" name="Shape 20"/>
          <p:cNvSpPr/>
          <p:nvPr/>
        </p:nvSpPr>
        <p:spPr>
          <a:xfrm>
            <a:off x="2425628" y="3311861"/>
            <a:ext cx="2476500" cy="101564"/>
          </a:xfrm>
          <a:prstGeom prst="roundRect">
            <a:avLst>
              <a:gd name="adj" fmla="val 25009"/>
            </a:avLst>
          </a:prstGeom>
          <a:solidFill>
            <a:srgbClr val="2B59C3"/>
          </a:solidFill>
          <a:ln/>
        </p:spPr>
      </p:sp>
      <p:sp>
        <p:nvSpPr>
          <p:cNvPr id="23" name="Text 21"/>
          <p:cNvSpPr/>
          <p:nvPr/>
        </p:nvSpPr>
        <p:spPr>
          <a:xfrm>
            <a:off x="6324503" y="3205186"/>
            <a:ext cx="1084539"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52 vs 56 · 93%</a:t>
            </a:r>
            <a:endParaRPr lang="en-US" sz="1200" dirty="0"/>
          </a:p>
        </p:txBody>
      </p:sp>
      <p:sp>
        <p:nvSpPr>
          <p:cNvPr id="24" name="Text 22"/>
          <p:cNvSpPr/>
          <p:nvPr/>
        </p:nvSpPr>
        <p:spPr>
          <a:xfrm>
            <a:off x="812752" y="3573438"/>
            <a:ext cx="1574800" cy="23869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Iter 6 · Jan 4–15</a:t>
            </a:r>
            <a:endParaRPr lang="en-US" sz="1200" dirty="0"/>
          </a:p>
        </p:txBody>
      </p:sp>
      <p:sp>
        <p:nvSpPr>
          <p:cNvPr id="25" name="Shape 23"/>
          <p:cNvSpPr/>
          <p:nvPr/>
        </p:nvSpPr>
        <p:spPr>
          <a:xfrm>
            <a:off x="2425628" y="3578549"/>
            <a:ext cx="2667000" cy="76188"/>
          </a:xfrm>
          <a:prstGeom prst="roundRect">
            <a:avLst>
              <a:gd name="adj" fmla="val 33339"/>
            </a:avLst>
          </a:prstGeom>
          <a:solidFill>
            <a:srgbClr val="C9C5B8"/>
          </a:solidFill>
          <a:ln/>
        </p:spPr>
      </p:sp>
      <p:sp>
        <p:nvSpPr>
          <p:cNvPr id="26" name="Shape 24"/>
          <p:cNvSpPr/>
          <p:nvPr/>
        </p:nvSpPr>
        <p:spPr>
          <a:xfrm>
            <a:off x="2425628" y="3680113"/>
            <a:ext cx="1047750" cy="101564"/>
          </a:xfrm>
          <a:prstGeom prst="roundRect">
            <a:avLst>
              <a:gd name="adj" fmla="val 25009"/>
            </a:avLst>
          </a:prstGeom>
          <a:solidFill>
            <a:srgbClr val="2B59C3"/>
          </a:solidFill>
          <a:ln/>
        </p:spPr>
      </p:sp>
      <p:sp>
        <p:nvSpPr>
          <p:cNvPr id="27" name="Text 25"/>
          <p:cNvSpPr/>
          <p:nvPr/>
        </p:nvSpPr>
        <p:spPr>
          <a:xfrm>
            <a:off x="6324503" y="3573438"/>
            <a:ext cx="1084539"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22 vs 56 · 39%</a:t>
            </a:r>
            <a:endParaRPr lang="en-US" sz="1200" dirty="0"/>
          </a:p>
        </p:txBody>
      </p:sp>
      <p:sp>
        <p:nvSpPr>
          <p:cNvPr id="28" name="Text 26"/>
          <p:cNvSpPr/>
          <p:nvPr/>
        </p:nvSpPr>
        <p:spPr>
          <a:xfrm>
            <a:off x="812752" y="3941690"/>
            <a:ext cx="1574800" cy="23869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Iter 7 · Jan 18–29</a:t>
            </a:r>
            <a:endParaRPr lang="en-US" sz="1200" dirty="0"/>
          </a:p>
        </p:txBody>
      </p:sp>
      <p:sp>
        <p:nvSpPr>
          <p:cNvPr id="29" name="Shape 27"/>
          <p:cNvSpPr/>
          <p:nvPr/>
        </p:nvSpPr>
        <p:spPr>
          <a:xfrm>
            <a:off x="2425628" y="3946801"/>
            <a:ext cx="2400252" cy="76188"/>
          </a:xfrm>
          <a:prstGeom prst="roundRect">
            <a:avLst>
              <a:gd name="adj" fmla="val 33339"/>
            </a:avLst>
          </a:prstGeom>
          <a:solidFill>
            <a:srgbClr val="C9C5B8"/>
          </a:solidFill>
          <a:ln/>
        </p:spPr>
      </p:sp>
      <p:sp>
        <p:nvSpPr>
          <p:cNvPr id="30" name="Shape 28"/>
          <p:cNvSpPr/>
          <p:nvPr/>
        </p:nvSpPr>
        <p:spPr>
          <a:xfrm>
            <a:off x="2425628" y="4048365"/>
            <a:ext cx="901688" cy="101564"/>
          </a:xfrm>
          <a:prstGeom prst="roundRect">
            <a:avLst>
              <a:gd name="adj" fmla="val 25009"/>
            </a:avLst>
          </a:prstGeom>
          <a:solidFill>
            <a:srgbClr val="2B59C3"/>
          </a:solidFill>
          <a:ln/>
        </p:spPr>
      </p:sp>
      <p:sp>
        <p:nvSpPr>
          <p:cNvPr id="31" name="Text 29"/>
          <p:cNvSpPr/>
          <p:nvPr/>
        </p:nvSpPr>
        <p:spPr>
          <a:xfrm>
            <a:off x="6324503" y="3941690"/>
            <a:ext cx="1084539" cy="23869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19 vs 50 · 38%</a:t>
            </a:r>
            <a:endParaRPr lang="en-US" sz="1200" dirty="0"/>
          </a:p>
        </p:txBody>
      </p:sp>
      <p:sp>
        <p:nvSpPr>
          <p:cNvPr id="32" name="Text 30"/>
          <p:cNvSpPr/>
          <p:nvPr/>
        </p:nvSpPr>
        <p:spPr>
          <a:xfrm>
            <a:off x="812752" y="4264242"/>
            <a:ext cx="7194549" cy="23869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Grey: capacity · Blue: planned load · Orange: load above capacity</a:t>
            </a:r>
            <a:endParaRPr lang="en-US" sz="1200" dirty="0"/>
          </a:p>
        </p:txBody>
      </p:sp>
      <p:sp>
        <p:nvSpPr>
          <p:cNvPr id="33" name="Shape 31"/>
          <p:cNvSpPr/>
          <p:nvPr/>
        </p:nvSpPr>
        <p:spPr>
          <a:xfrm>
            <a:off x="8000940" y="1374090"/>
            <a:ext cx="3378308" cy="3709879"/>
          </a:xfrm>
          <a:prstGeom prst="roundRect">
            <a:avLst>
              <a:gd name="adj" fmla="val 3007"/>
            </a:avLst>
          </a:prstGeom>
          <a:solidFill>
            <a:srgbClr val="14213D"/>
          </a:solidFill>
          <a:ln/>
        </p:spPr>
      </p:sp>
      <p:sp>
        <p:nvSpPr>
          <p:cNvPr id="34" name="Text 32"/>
          <p:cNvSpPr/>
          <p:nvPr/>
        </p:nvSpPr>
        <p:spPr>
          <a:xfrm>
            <a:off x="8229503" y="1602654"/>
            <a:ext cx="3008816" cy="27428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8B04A"/>
                </a:solidFill>
                <a:latin typeface="Arial" pitchFamily="34" charset="0"/>
                <a:ea typeface="Arial" pitchFamily="34" charset="-122"/>
                <a:cs typeface="Arial" pitchFamily="34" charset="-120"/>
              </a:rPr>
              <a:t>What it means</a:t>
            </a:r>
            <a:endParaRPr lang="en-US" sz="1400" dirty="0"/>
          </a:p>
        </p:txBody>
      </p:sp>
      <p:sp>
        <p:nvSpPr>
          <p:cNvPr id="35" name="Text 33"/>
          <p:cNvSpPr/>
          <p:nvPr/>
        </p:nvSpPr>
        <p:spPr>
          <a:xfrm>
            <a:off x="8229503" y="1940418"/>
            <a:ext cx="3008816" cy="4519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Arial" pitchFamily="34" charset="0"/>
                <a:ea typeface="Arial" pitchFamily="34" charset="-122"/>
                <a:cs typeface="Arial" pitchFamily="34" charset="-120"/>
              </a:rPr>
              <a:t>Iterations 1 and 2 need 113% and 141% of capacity.</a:t>
            </a:r>
            <a:endParaRPr lang="en-US" sz="1200" dirty="0"/>
          </a:p>
        </p:txBody>
      </p:sp>
      <p:sp>
        <p:nvSpPr>
          <p:cNvPr id="36" name="Text 34"/>
          <p:cNvSpPr/>
          <p:nvPr/>
        </p:nvSpPr>
        <p:spPr>
          <a:xfrm>
            <a:off x="8229503" y="2455875"/>
            <a:ext cx="3008816" cy="4519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Arial" pitchFamily="34" charset="0"/>
                <a:ea typeface="Arial" pitchFamily="34" charset="-122"/>
                <a:cs typeface="Arial" pitchFamily="34" charset="-120"/>
              </a:rPr>
              <a:t>Iterations 3 and 4 have room, at 84% and 69%.</a:t>
            </a:r>
            <a:endParaRPr lang="en-US" sz="1200" dirty="0"/>
          </a:p>
        </p:txBody>
      </p:sp>
      <p:sp>
        <p:nvSpPr>
          <p:cNvPr id="37" name="Text 35"/>
          <p:cNvSpPr/>
          <p:nvPr/>
        </p:nvSpPr>
        <p:spPr>
          <a:xfrm>
            <a:off x="8229503" y="2971330"/>
            <a:ext cx="3008816" cy="66527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Arial" pitchFamily="34" charset="0"/>
                <a:ea typeface="Arial" pitchFamily="34" charset="-122"/>
                <a:cs typeface="Arial" pitchFamily="34" charset="-120"/>
              </a:rPr>
              <a:t>Total demand reaches 101% of capacity on Dec 18, so there is no slack before year-end.</a:t>
            </a:r>
            <a:endParaRPr lang="en-US" sz="1200" dirty="0"/>
          </a:p>
        </p:txBody>
      </p:sp>
      <p:sp>
        <p:nvSpPr>
          <p:cNvPr id="38" name="Text 36"/>
          <p:cNvSpPr/>
          <p:nvPr/>
        </p:nvSpPr>
        <p:spPr>
          <a:xfrm>
            <a:off x="8229503" y="3700078"/>
            <a:ext cx="3008816" cy="4519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Arial" pitchFamily="34" charset="0"/>
                <a:ea typeface="Arial" pitchFamily="34" charset="-122"/>
                <a:cs typeface="Arial" pitchFamily="34" charset="-120"/>
              </a:rPr>
              <a:t>The buffer is about 45 days (17%) in Dec 21–Jan 15, shared with leave.</a:t>
            </a:r>
            <a:endParaRPr lang="en-US" sz="1200" dirty="0"/>
          </a:p>
        </p:txBody>
      </p:sp>
      <p:sp>
        <p:nvSpPr>
          <p:cNvPr id="39" name="Text 37"/>
          <p:cNvSpPr/>
          <p:nvPr/>
        </p:nvSpPr>
        <p:spPr>
          <a:xfrm>
            <a:off x="8229503" y="4215533"/>
            <a:ext cx="3008816" cy="66527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Arial" pitchFamily="34" charset="0"/>
                <a:ea typeface="Arial" pitchFamily="34" charset="-122"/>
                <a:cs typeface="Arial" pitchFamily="34" charset="-120"/>
              </a:rPr>
              <a:t>Levers: borrow BAU time in iterations 1–2, or let Dev infrastructure and the QA rollback test run into iteration 3.</a:t>
            </a:r>
            <a:endParaRPr lang="en-US" sz="1200" dirty="0"/>
          </a:p>
        </p:txBody>
      </p:sp>
      <p:sp>
        <p:nvSpPr>
          <p:cNvPr id="40" name="Text 38"/>
          <p:cNvSpPr/>
          <p:nvPr/>
        </p:nvSpPr>
        <p:spPr>
          <a:xfrm>
            <a:off x="812752" y="6238334"/>
            <a:ext cx="10883366" cy="23869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5.6 FTE × working days · 8 days in Iter 4 (Nov 26–27 holidays) · leave assumed Dec 21–Jan 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752" y="812753"/>
            <a:ext cx="10883490" cy="434362"/>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Arial" pitchFamily="34" charset="0"/>
                <a:ea typeface="Arial" pitchFamily="34" charset="-122"/>
                <a:cs typeface="Arial" pitchFamily="34" charset="-120"/>
              </a:rPr>
              <a:t>Key risks and how we handle them</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4297" y="1411014"/>
          <a:ext cx="10554830" cy="3600317"/>
        </p:xfrm>
        <a:graphic>
          <a:graphicData uri="http://schemas.openxmlformats.org/drawingml/2006/table">
            <a:tbl>
              <a:tblPr/>
              <a:tblGrid>
                <a:gridCol w="2955352"/>
                <a:gridCol w="5699608"/>
                <a:gridCol w="1899869"/>
              </a:tblGrid>
              <a:tr h="331511">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Risk</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How we handle it</a:t>
                      </a:r>
                      <a:endParaRPr lang="en-US" sz="1200" dirty="0">
                        <a:latin typeface="Arial" charset="0"/>
                        <a:ea typeface="Arial" charset="0"/>
                        <a:cs typeface="Arial"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Watch point</a:t>
                      </a:r>
                      <a:endParaRPr lang="en-US" sz="1200" dirty="0">
                        <a:latin typeface="Arial" charset="0"/>
                        <a:ea typeface="Arial" charset="0"/>
                        <a:cs typeface="Arial"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54480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Python 3.14 is new; some libraries may not support it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Dependency audit and vulnerability scan finish in Iter 1; CI tests Python 3.11 and 3.14; fall back to 3.13 if a blocker remains</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Decision Oct 23</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54480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QA build must finish in Iter 1, and Iters 1–2 are over capacity</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Raise every infrastructure request before Oct 12; borrow BAU time; Dev infrastructure and the QA rollback test may run into Iter 3</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Requests in by Oct 9</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r>
              <a:tr h="54480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Dev and UAT are shared; UAT sign-off is compressed</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Cutover windows announced two weeks ahead; testers named by Nov 6; overflow uses the Dec 21–Jan 15 buffer</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Testers named Nov 6</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54480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Production freeze Dec 15–31</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Production infrastructure and clone rehearsal done by Dec 11; confirm with change management that this work is allowed</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Confirm by Oct 30</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r>
              <a:tr h="54480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Production database migration runs long</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Rehearse on a prod clone in Iter 5; size the window at 1.5× the measured time; trim history first</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Rehearsal timing</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DB6"/>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54480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Production go-live goes wrong</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v2 and its database stay untouched; stop v3 and restart v2 in under 30 minutes; drilled in QA, Dev and UAT</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UAT rollback drill</a:t>
                      </a:r>
                      <a:endParaRPr lang="en-US" sz="1200" dirty="0">
                        <a:latin typeface="Arial" charset="0"/>
                        <a:ea typeface="Arial" charset="0"/>
                        <a:cs typeface="Arial" charset="0"/>
                      </a:endParaRPr>
                    </a:p>
                  </a:txBody>
                  <a:tcPr marL="53340" marR="53340" marT="53340" marB="53340" anchor="t">
                    <a:lnL w="12700" cap="flat" cmpd="sng" algn="ctr">
                      <a:solidFill>
                        <a:srgbClr val="BFBDB6"/>
                      </a:solidFill>
                      <a:prstDash val="solid"/>
                      <a:round/>
                      <a:headEnd type="none" w="med" len="med"/>
                      <a:tailEnd type="none" w="med" len="med"/>
                    </a:lnL>
                    <a:lnR w="12700" cap="flat" cmpd="sng" algn="ctr">
                      <a:solidFill>
                        <a:srgbClr val="BFBDB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DB6"/>
                      </a:solidFill>
                      <a:prstDash val="solid"/>
                      <a:round/>
                      <a:headEnd type="none" w="med" len="med"/>
                      <a:tailEnd type="none" w="med" len="med"/>
                    </a:lnB>
                    <a:solidFill>
                      <a:srgbClr val="EFEDE4"/>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752" y="812753"/>
            <a:ext cx="10883490" cy="434362"/>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Arial" pitchFamily="34" charset="0"/>
                <a:ea typeface="Arial" pitchFamily="34" charset="-122"/>
                <a:cs typeface="Arial" pitchFamily="34" charset="-120"/>
              </a:rPr>
              <a:t>Decisions and assumptions</a:t>
            </a:r>
            <a:endParaRPr lang="en-US" sz="2800" dirty="0"/>
          </a:p>
        </p:txBody>
      </p:sp>
      <p:sp>
        <p:nvSpPr>
          <p:cNvPr id="3" name="Shape 1"/>
          <p:cNvSpPr/>
          <p:nvPr/>
        </p:nvSpPr>
        <p:spPr>
          <a:xfrm>
            <a:off x="812752" y="1399465"/>
            <a:ext cx="5588000" cy="3944215"/>
          </a:xfrm>
          <a:prstGeom prst="roundRect">
            <a:avLst>
              <a:gd name="adj" fmla="val 2576"/>
            </a:avLst>
          </a:prstGeom>
          <a:solidFill>
            <a:srgbClr val="14213D"/>
          </a:solidFill>
          <a:ln/>
        </p:spPr>
      </p:sp>
      <p:sp>
        <p:nvSpPr>
          <p:cNvPr id="4" name="Text 2"/>
          <p:cNvSpPr/>
          <p:nvPr/>
        </p:nvSpPr>
        <p:spPr>
          <a:xfrm>
            <a:off x="1066752" y="1653465"/>
            <a:ext cx="5232400" cy="27428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8B04A"/>
                </a:solidFill>
                <a:latin typeface="Arial" pitchFamily="34" charset="0"/>
                <a:ea typeface="Arial" pitchFamily="34" charset="-122"/>
                <a:cs typeface="Arial" pitchFamily="34" charset="-120"/>
              </a:rPr>
              <a:t>Decisions we need from management</a:t>
            </a:r>
            <a:endParaRPr lang="en-US" sz="1400" dirty="0"/>
          </a:p>
        </p:txBody>
      </p:sp>
      <p:sp>
        <p:nvSpPr>
          <p:cNvPr id="5" name="Text 3"/>
          <p:cNvSpPr/>
          <p:nvPr/>
        </p:nvSpPr>
        <p:spPr>
          <a:xfrm>
            <a:off x="1066752" y="2042043"/>
            <a:ext cx="279376" cy="279376"/>
          </a:xfrm>
          <a:prstGeom prst="roundRect">
            <a:avLst>
              <a:gd name="adj" fmla="val 50000"/>
            </a:avLst>
          </a:prstGeom>
          <a:solidFill>
            <a:srgbClr val="E8B04A"/>
          </a:solidFill>
          <a:ln/>
        </p:spPr>
        <p:txBody>
          <a:bodyPr wrap="square" lIns="0" tIns="0" rIns="0" bIns="0"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1</a:t>
            </a:r>
            <a:endParaRPr lang="en-US" sz="1200" dirty="0"/>
          </a:p>
        </p:txBody>
      </p:sp>
      <p:sp>
        <p:nvSpPr>
          <p:cNvPr id="6" name="Text 4"/>
          <p:cNvSpPr/>
          <p:nvPr/>
        </p:nvSpPr>
        <p:spPr>
          <a:xfrm>
            <a:off x="1473128" y="2042043"/>
            <a:ext cx="4970780" cy="5231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Approve QA environment provisioning now, before the Oct 12 kickoff</a:t>
            </a:r>
            <a:endParaRPr lang="en-US" sz="1400" dirty="0"/>
          </a:p>
        </p:txBody>
      </p:sp>
      <p:sp>
        <p:nvSpPr>
          <p:cNvPr id="7" name="Text 5"/>
          <p:cNvSpPr/>
          <p:nvPr/>
        </p:nvSpPr>
        <p:spPr>
          <a:xfrm>
            <a:off x="1066752" y="2679508"/>
            <a:ext cx="279376" cy="279376"/>
          </a:xfrm>
          <a:prstGeom prst="roundRect">
            <a:avLst>
              <a:gd name="adj" fmla="val 50000"/>
            </a:avLst>
          </a:prstGeom>
          <a:solidFill>
            <a:srgbClr val="E8B04A"/>
          </a:solidFill>
          <a:ln/>
        </p:spPr>
        <p:txBody>
          <a:bodyPr wrap="square" lIns="0" tIns="0" rIns="0" bIns="0"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2</a:t>
            </a:r>
            <a:endParaRPr lang="en-US" sz="1200" dirty="0"/>
          </a:p>
        </p:txBody>
      </p:sp>
      <p:sp>
        <p:nvSpPr>
          <p:cNvPr id="8" name="Text 6"/>
          <p:cNvSpPr/>
          <p:nvPr/>
        </p:nvSpPr>
        <p:spPr>
          <a:xfrm>
            <a:off x="1473128" y="2679508"/>
            <a:ext cx="4970780" cy="5231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Commit tester time from the three teams: Nov 30–Dec 4 (LnF) and Dec 7–18 (Capital, PnL)</a:t>
            </a:r>
            <a:endParaRPr lang="en-US" sz="1400" dirty="0"/>
          </a:p>
        </p:txBody>
      </p:sp>
      <p:sp>
        <p:nvSpPr>
          <p:cNvPr id="9" name="Text 7"/>
          <p:cNvSpPr/>
          <p:nvPr/>
        </p:nvSpPr>
        <p:spPr>
          <a:xfrm>
            <a:off x="1066752" y="3316973"/>
            <a:ext cx="279376" cy="279376"/>
          </a:xfrm>
          <a:prstGeom prst="roundRect">
            <a:avLst>
              <a:gd name="adj" fmla="val 50000"/>
            </a:avLst>
          </a:prstGeom>
          <a:solidFill>
            <a:srgbClr val="E8B04A"/>
          </a:solidFill>
          <a:ln/>
        </p:spPr>
        <p:txBody>
          <a:bodyPr wrap="square" lIns="0" tIns="0" rIns="0" bIns="0"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3</a:t>
            </a:r>
            <a:endParaRPr lang="en-US" sz="1200" dirty="0"/>
          </a:p>
        </p:txBody>
      </p:sp>
      <p:sp>
        <p:nvSpPr>
          <p:cNvPr id="10" name="Text 8"/>
          <p:cNvSpPr/>
          <p:nvPr/>
        </p:nvSpPr>
        <p:spPr>
          <a:xfrm>
            <a:off x="1473128" y="3316973"/>
            <a:ext cx="4970780" cy="5231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Agree short Dev and UAT cutover windows in Iterations 3 and 4, announced two weeks ahead</a:t>
            </a:r>
            <a:endParaRPr lang="en-US" sz="1400" dirty="0"/>
          </a:p>
        </p:txBody>
      </p:sp>
      <p:sp>
        <p:nvSpPr>
          <p:cNvPr id="11" name="Text 9"/>
          <p:cNvSpPr/>
          <p:nvPr/>
        </p:nvSpPr>
        <p:spPr>
          <a:xfrm>
            <a:off x="1066752" y="3954438"/>
            <a:ext cx="279376" cy="279376"/>
          </a:xfrm>
          <a:prstGeom prst="roundRect">
            <a:avLst>
              <a:gd name="adj" fmla="val 50000"/>
            </a:avLst>
          </a:prstGeom>
          <a:solidFill>
            <a:srgbClr val="E8B04A"/>
          </a:solidFill>
          <a:ln/>
        </p:spPr>
        <p:txBody>
          <a:bodyPr wrap="square" lIns="0" tIns="0" rIns="0" bIns="0"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4</a:t>
            </a:r>
            <a:endParaRPr lang="en-US" sz="1200" dirty="0"/>
          </a:p>
        </p:txBody>
      </p:sp>
      <p:sp>
        <p:nvSpPr>
          <p:cNvPr id="12" name="Text 10"/>
          <p:cNvSpPr/>
          <p:nvPr/>
        </p:nvSpPr>
        <p:spPr>
          <a:xfrm>
            <a:off x="1473128" y="3954438"/>
            <a:ext cx="4970780" cy="5231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Allow production infrastructure work and a clone rehearsal before the Dec 15 freeze</a:t>
            </a:r>
            <a:endParaRPr lang="en-US" sz="1400" dirty="0"/>
          </a:p>
        </p:txBody>
      </p:sp>
      <p:sp>
        <p:nvSpPr>
          <p:cNvPr id="13" name="Text 11"/>
          <p:cNvSpPr/>
          <p:nvPr/>
        </p:nvSpPr>
        <p:spPr>
          <a:xfrm>
            <a:off x="1066752" y="4591906"/>
            <a:ext cx="279376" cy="279376"/>
          </a:xfrm>
          <a:prstGeom prst="roundRect">
            <a:avLst>
              <a:gd name="adj" fmla="val 50000"/>
            </a:avLst>
          </a:prstGeom>
          <a:solidFill>
            <a:srgbClr val="E8B04A"/>
          </a:solidFill>
          <a:ln/>
        </p:spPr>
        <p:txBody>
          <a:bodyPr wrap="square" lIns="0" tIns="0" rIns="0" bIns="0" rtlCol="0" anchor="ctr">
            <a:normAutofit/>
          </a:bodyPr>
          <a:lstStyle/>
          <a:p>
            <a:pPr algn="ctr" indent="0" marL="0">
              <a:lnSpc>
                <a:spcPts val="1200"/>
              </a:lnSpc>
              <a:buNone/>
            </a:pPr>
            <a:r>
              <a:rPr lang="en-US" sz="1200" b="1" dirty="0">
                <a:solidFill>
                  <a:srgbClr val="14213D"/>
                </a:solidFill>
                <a:latin typeface="Arial" pitchFamily="34" charset="0"/>
                <a:ea typeface="Arial" pitchFamily="34" charset="-122"/>
                <a:cs typeface="Arial" pitchFamily="34" charset="-120"/>
              </a:rPr>
              <a:t>5</a:t>
            </a:r>
            <a:endParaRPr lang="en-US" sz="1200" dirty="0"/>
          </a:p>
        </p:txBody>
      </p:sp>
      <p:sp>
        <p:nvSpPr>
          <p:cNvPr id="14" name="Text 12"/>
          <p:cNvSpPr/>
          <p:nvPr/>
        </p:nvSpPr>
        <p:spPr>
          <a:xfrm>
            <a:off x="1473128" y="4591906"/>
            <a:ext cx="4970780" cy="52317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Reserve the Jan 16–18 change window, with Jan 23–24 and Feb 6–7 as fallbacks</a:t>
            </a:r>
            <a:endParaRPr lang="en-US" sz="1400" dirty="0"/>
          </a:p>
        </p:txBody>
      </p:sp>
      <p:sp>
        <p:nvSpPr>
          <p:cNvPr id="15" name="Shape 13"/>
          <p:cNvSpPr/>
          <p:nvPr/>
        </p:nvSpPr>
        <p:spPr>
          <a:xfrm>
            <a:off x="6607115" y="1402640"/>
            <a:ext cx="4768838" cy="3937865"/>
          </a:xfrm>
          <a:prstGeom prst="roundRect">
            <a:avLst>
              <a:gd name="adj" fmla="val 2499"/>
            </a:avLst>
          </a:prstGeom>
          <a:solidFill>
            <a:srgbClr val="FDFCF9"/>
          </a:solidFill>
          <a:ln w="6350">
            <a:solidFill>
              <a:srgbClr val="E1DDD1"/>
            </a:solidFill>
            <a:prstDash val="solid"/>
          </a:ln>
        </p:spPr>
      </p:sp>
      <p:sp>
        <p:nvSpPr>
          <p:cNvPr id="16" name="Text 14"/>
          <p:cNvSpPr/>
          <p:nvPr/>
        </p:nvSpPr>
        <p:spPr>
          <a:xfrm>
            <a:off x="6861788" y="1657316"/>
            <a:ext cx="4387276" cy="27428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59C3"/>
                </a:solidFill>
                <a:latin typeface="Arial" pitchFamily="34" charset="0"/>
                <a:ea typeface="Arial" pitchFamily="34" charset="-122"/>
                <a:cs typeface="Arial" pitchFamily="34" charset="-120"/>
              </a:rPr>
              <a:t>Assumptions to confirm</a:t>
            </a:r>
            <a:endParaRPr lang="en-US" sz="1400" dirty="0"/>
          </a:p>
        </p:txBody>
      </p:sp>
      <p:sp>
        <p:nvSpPr>
          <p:cNvPr id="17" name="Text 15"/>
          <p:cNvSpPr/>
          <p:nvPr/>
        </p:nvSpPr>
        <p:spPr>
          <a:xfrm>
            <a:off x="6973294" y="2007766"/>
            <a:ext cx="4268150" cy="2082475"/>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14213D"/>
                </a:solidFill>
                <a:latin typeface="Arial" pitchFamily="34" charset="0"/>
                <a:ea typeface="Arial" pitchFamily="34" charset="-122"/>
                <a:cs typeface="Arial" pitchFamily="34" charset="-120"/>
              </a:rPr>
              <a:t>Kickoff is Oct 12, 2026; a later start moves every date by the same amount</a:t>
            </a:r>
            <a:endParaRPr lang="en-US" sz="1200" dirty="0"/>
          </a:p>
          <a:p>
            <a:pPr algn="l" marL="142494" indent="-142494">
              <a:lnSpc>
                <a:spcPts val="1800"/>
              </a:lnSpc>
              <a:buSzPct val="100000"/>
              <a:buChar char="•"/>
            </a:pPr>
            <a:r>
              <a:rPr lang="en-US" sz="1200" dirty="0">
                <a:solidFill>
                  <a:srgbClr val="14213D"/>
                </a:solidFill>
                <a:latin typeface="Arial" pitchFamily="34" charset="0"/>
                <a:ea typeface="Arial" pitchFamily="34" charset="-122"/>
                <a:cs typeface="Arial" pitchFamily="34" charset="-120"/>
              </a:rPr>
              <a:t>US public holidays; one week of leave per person, planned in Dec 21–Jan 1</a:t>
            </a:r>
            <a:endParaRPr lang="en-US" sz="1200" dirty="0"/>
          </a:p>
          <a:p>
            <a:pPr algn="l" marL="142494" indent="-142494">
              <a:lnSpc>
                <a:spcPts val="1800"/>
              </a:lnSpc>
              <a:buSzPct val="100000"/>
              <a:buChar char="•"/>
            </a:pPr>
            <a:r>
              <a:rPr lang="en-US" sz="1200" dirty="0">
                <a:solidFill>
                  <a:srgbClr val="14213D"/>
                </a:solidFill>
                <a:latin typeface="Arial" pitchFamily="34" charset="0"/>
                <a:ea typeface="Arial" pitchFamily="34" charset="-122"/>
                <a:cs typeface="Arial" pitchFamily="34" charset="-120"/>
              </a:rPr>
              <a:t>The three teams release their own DAG fixes on v2 by Nov 6</a:t>
            </a:r>
            <a:endParaRPr lang="en-US" sz="1200" dirty="0"/>
          </a:p>
          <a:p>
            <a:pPr algn="l" marL="142494" indent="-142494">
              <a:lnSpc>
                <a:spcPts val="1800"/>
              </a:lnSpc>
              <a:buSzPct val="100000"/>
              <a:buChar char="•"/>
            </a:pPr>
            <a:r>
              <a:rPr lang="en-US" sz="1200" dirty="0">
                <a:solidFill>
                  <a:srgbClr val="14213D"/>
                </a:solidFill>
                <a:latin typeface="Arial" pitchFamily="34" charset="0"/>
                <a:ea typeface="Arial" pitchFamily="34" charset="-122"/>
                <a:cs typeface="Arial" pitchFamily="34" charset="-120"/>
              </a:rPr>
              <a:t>Python 3.14 holds; otherwise 3.13 is the fallback</a:t>
            </a:r>
            <a:endParaRPr lang="en-US" sz="1200" dirty="0"/>
          </a:p>
          <a:p>
            <a:pPr algn="l" marL="142494" indent="-142494">
              <a:lnSpc>
                <a:spcPts val="1800"/>
              </a:lnSpc>
              <a:buSzPct val="100000"/>
              <a:buChar char="•"/>
            </a:pPr>
            <a:r>
              <a:rPr lang="en-US" sz="1200" dirty="0">
                <a:solidFill>
                  <a:srgbClr val="14213D"/>
                </a:solidFill>
                <a:latin typeface="Arial" pitchFamily="34" charset="0"/>
                <a:ea typeface="Arial" pitchFamily="34" charset="-122"/>
                <a:cs typeface="Arial" pitchFamily="34" charset="-120"/>
              </a:rPr>
              <a:t>About 120 live DAGs; database size is measured in QA</a:t>
            </a:r>
            <a:endParaRPr lang="en-US" sz="1200" dirty="0"/>
          </a:p>
          <a:p>
            <a:pPr algn="l" marL="142494" indent="-142494">
              <a:lnSpc>
                <a:spcPts val="1800"/>
              </a:lnSpc>
              <a:buSzPct val="100000"/>
              <a:buChar char="•"/>
            </a:pPr>
            <a:r>
              <a:rPr lang="en-US" sz="1200" dirty="0">
                <a:solidFill>
                  <a:srgbClr val="14213D"/>
                </a:solidFill>
                <a:latin typeface="Arial" pitchFamily="34" charset="0"/>
                <a:ea typeface="Arial" pitchFamily="34" charset="-122"/>
                <a:cs typeface="Arial" pitchFamily="34" charset="-120"/>
              </a:rPr>
              <a:t>No cutover at month-end or in the Dec 15–31 freeze</a:t>
            </a:r>
            <a:endParaRPr lang="en-US" sz="1200" dirty="0"/>
          </a:p>
        </p:txBody>
      </p:sp>
      <p:sp>
        <p:nvSpPr>
          <p:cNvPr id="18" name="Text 16"/>
          <p:cNvSpPr/>
          <p:nvPr/>
        </p:nvSpPr>
        <p:spPr>
          <a:xfrm>
            <a:off x="812752" y="6238335"/>
            <a:ext cx="10883366" cy="23869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Re-baselined at every iteration review; first reviews Oct 23 (Python 3.14 decision) and Nov 6 (QA sign-off).</a:t>
            </a:r>
            <a:endParaRPr lang="en-US" sz="1200" dirty="0"/>
          </a:p>
        </p:txBody>
      </p:sp>
    </p:spTree>
  </p:cSld>
  <p:clrMapOvr>
    <a:masterClrMapping/>
  </p:clrMapOvr>
</p:sld>
</file>

<file path=ppt/theme/theme1.xml><?xml version="1.0" encoding="utf-8"?>
<a:theme xmlns:a="http://schemas.openxmlformats.org/drawingml/2006/main" name="Airflow 3 Migration Roadmap">
  <a:themeElements>
    <a:clrScheme name="Airflow 3 Migration Roadmap">
      <a:dk1>
        <a:srgbClr val="14213D"/>
      </a:dk1>
      <a:lt1>
        <a:srgbClr val="F7F6F2"/>
      </a:lt1>
      <a:dk2>
        <a:srgbClr val="4D566A"/>
      </a:dk2>
      <a:lt2>
        <a:srgbClr val="E0E1E0"/>
      </a:lt2>
      <a:accent1>
        <a:srgbClr val="E8B04A"/>
      </a:accent1>
      <a:accent2>
        <a:srgbClr val="2B59C3"/>
      </a:accent2>
      <a:accent3>
        <a:srgbClr val="A9540A"/>
      </a:accent3>
      <a:accent4>
        <a:srgbClr val="1E3160"/>
      </a:accent4>
      <a:accent5>
        <a:srgbClr val="4A5568"/>
      </a:accent5>
      <a:accent6>
        <a:srgbClr val="D9D5C8"/>
      </a:accent6>
      <a:hlink>
        <a:srgbClr val="0563C1"/>
      </a:hlink>
      <a:folHlink>
        <a:srgbClr val="954F72"/>
      </a:folHlink>
    </a:clrScheme>
    <a:fontScheme name="Airflow 3 Migration Roadma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Airflow 3 Migration Roadmap</dc:title>
  <dc:subject/>
  <dc:creator/>
  <cp:lastModifiedBy/>
  <cp:revision>1</cp:revision>
  <dcterms:created xsi:type="dcterms:W3CDTF">2026-10-08T04:23:06Z</dcterms:created>
  <dcterms:modified xsi:type="dcterms:W3CDTF">2026-10-08T04:23:06Z</dcterms:modified>
</cp:coreProperties>
</file>