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1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53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620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81535"/>
            <a:ext cx="112745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3A8A8A"/>
                </a:solidFill>
                <a:latin typeface="Arial"/>
              </a:rPr>
              <a:t>ORCHESTRATION PLATFORM  |  MODERNIZATION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2431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 dirty="0">
                <a:solidFill>
                  <a:srgbClr val="2A2E35"/>
                </a:solidFill>
                <a:latin typeface="Arial"/>
              </a:rPr>
              <a:t>Why Now: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16736"/>
            <a:ext cx="11274552" cy="18288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572768"/>
            <a:ext cx="2679192" cy="2514600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 w="9525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2679192" cy="421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 i="0" dirty="0">
                <a:solidFill>
                  <a:srgbClr val="3A8A8A"/>
                </a:solidFill>
                <a:latin typeface="Arial"/>
              </a:rPr>
              <a:t>9</a:t>
            </a:r>
            <a:r>
              <a:rPr lang="en-US" sz="2800" b="1" i="0" dirty="0">
                <a:solidFill>
                  <a:srgbClr val="3A8A8A"/>
                </a:solidFill>
                <a:latin typeface="Arial"/>
              </a:rPr>
              <a:t>5</a:t>
            </a:r>
            <a:r>
              <a:rPr sz="2800" b="1" i="0" dirty="0">
                <a:solidFill>
                  <a:srgbClr val="3A8A8A"/>
                </a:solidFill>
                <a:latin typeface="Arial"/>
              </a:rPr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50592"/>
            <a:ext cx="26791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2A2E35"/>
                </a:solidFill>
                <a:latin typeface="Arial"/>
              </a:rPr>
              <a:t>of the work is wasted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476756" y="2798064"/>
            <a:ext cx="640080" cy="16459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2313432" cy="555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lang="en-US" sz="1050" b="0" i="0" dirty="0">
                <a:solidFill>
                  <a:srgbClr val="4A5058"/>
                </a:solidFill>
                <a:latin typeface="Arial"/>
              </a:rPr>
              <a:t>A single incoming update sets off hundreds of internal steps to orchestrate single calculator.</a:t>
            </a:r>
            <a:endParaRPr sz="1050" b="0" i="0" dirty="0">
              <a:solidFill>
                <a:srgbClr val="4A5058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22289" y="1572768"/>
            <a:ext cx="2679192" cy="2514600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 w="9525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22289" y="1847088"/>
            <a:ext cx="267919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2800" b="1" i="0" dirty="0">
                <a:solidFill>
                  <a:srgbClr val="3A8A8A"/>
                </a:solidFill>
                <a:latin typeface="Arial"/>
              </a:rPr>
              <a:t>5+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2289" y="2450592"/>
            <a:ext cx="26791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1150" b="1" i="0" dirty="0">
                <a:solidFill>
                  <a:srgbClr val="2A2E35"/>
                </a:solidFill>
                <a:latin typeface="Arial"/>
              </a:rPr>
              <a:t>to answer one question</a:t>
            </a:r>
            <a:endParaRPr sz="1150" b="1" i="0" dirty="0">
              <a:solidFill>
                <a:srgbClr val="2A2E35"/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41845" y="2798064"/>
            <a:ext cx="640080" cy="16459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05169" y="2962656"/>
            <a:ext cx="2313432" cy="112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058"/>
                </a:solidFill>
                <a:latin typeface="Arial"/>
              </a:rPr>
              <a:t>context and event reverse lookup is slow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058"/>
                </a:solidFill>
                <a:latin typeface="Arial"/>
              </a:rPr>
              <a:t>amplifies database connection starvation and leakage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058"/>
                </a:solidFill>
                <a:latin typeface="Arial"/>
              </a:rPr>
              <a:t>no cache mechanism</a:t>
            </a:r>
          </a:p>
          <a:p>
            <a:pPr marL="171450" indent="-171450" algn="ctr">
              <a:lnSpc>
                <a:spcPct val="118000"/>
              </a:lnSpc>
              <a:buFont typeface="Arial" panose="020B0604020202020204" pitchFamily="34" charset="0"/>
              <a:buChar char="•"/>
            </a:pPr>
            <a:endParaRPr sz="1050" b="0" i="0" dirty="0">
              <a:solidFill>
                <a:srgbClr val="4A5058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87379" y="1572768"/>
            <a:ext cx="2679192" cy="2514600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 w="9525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87379" y="1847088"/>
            <a:ext cx="267919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2800" b="1" i="0" dirty="0">
                <a:solidFill>
                  <a:srgbClr val="3A8A8A"/>
                </a:solidFill>
                <a:latin typeface="Arial"/>
              </a:rPr>
              <a:t>Month-end</a:t>
            </a:r>
            <a:endParaRPr sz="2800" b="1" i="0" dirty="0">
              <a:solidFill>
                <a:srgbClr val="3A8A8A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87379" y="2450592"/>
            <a:ext cx="26791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 dirty="0">
                <a:solidFill>
                  <a:srgbClr val="2A2E35"/>
                </a:solidFill>
                <a:latin typeface="Arial"/>
              </a:rPr>
              <a:t>production instability peaks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6935" y="2798064"/>
            <a:ext cx="640080" cy="16459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0259" y="2962656"/>
            <a:ext cx="231343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lang="en-US" sz="1050" b="0" i="0" dirty="0">
                <a:solidFill>
                  <a:srgbClr val="4A5058"/>
                </a:solidFill>
                <a:latin typeface="Arial"/>
              </a:rPr>
              <a:t>Work arrives faster than the platform can clear it, so failed runs and incidents rise exactly when the deadline is tightest.</a:t>
            </a:r>
            <a:endParaRPr sz="1050" b="0" i="0" dirty="0">
              <a:solidFill>
                <a:srgbClr val="4A5058"/>
              </a:solidFill>
              <a:latin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052468" y="1572768"/>
            <a:ext cx="2679192" cy="2514600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 w="9525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468" y="1847088"/>
            <a:ext cx="267919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2800" b="1" i="0" dirty="0">
                <a:solidFill>
                  <a:srgbClr val="3A8A8A"/>
                </a:solidFill>
                <a:latin typeface="Arial"/>
              </a:rPr>
              <a:t>~100</a:t>
            </a:r>
            <a:endParaRPr sz="2800" b="1" i="0" dirty="0">
              <a:solidFill>
                <a:srgbClr val="3A8A8A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52468" y="2450592"/>
            <a:ext cx="2679192" cy="172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1150" b="1" dirty="0">
                <a:solidFill>
                  <a:srgbClr val="2A2E35"/>
                </a:solidFill>
                <a:latin typeface="Arial"/>
              </a:rPr>
              <a:t>calculator DAGs, and growing</a:t>
            </a:r>
            <a:endParaRPr sz="1150" b="1" i="0" dirty="0">
              <a:solidFill>
                <a:srgbClr val="2A2E35"/>
              </a:solidFill>
              <a:latin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0072024" y="2798064"/>
            <a:ext cx="640080" cy="16459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5348" y="2962656"/>
            <a:ext cx="231343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lang="en-US" sz="1050" dirty="0">
                <a:solidFill>
                  <a:srgbClr val="4A5058"/>
                </a:solidFill>
                <a:latin typeface="Arial"/>
              </a:rPr>
              <a:t>Each calculator we add multiplies the waste, so onboarding a new team adds risk rather than simply adding capacity.</a:t>
            </a:r>
            <a:endParaRPr sz="1050" b="0" i="0" dirty="0">
              <a:solidFill>
                <a:srgbClr val="4A5058"/>
              </a:solidFill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7200" y="4370832"/>
            <a:ext cx="11274552" cy="960120"/>
          </a:xfrm>
          <a:prstGeom prst="roundRect">
            <a:avLst>
              <a:gd name="adj" fmla="val 4000"/>
            </a:avLst>
          </a:prstGeom>
          <a:solidFill>
            <a:srgbClr val="FAF7F1"/>
          </a:solidFill>
          <a:ln w="9525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370832"/>
            <a:ext cx="50292" cy="960120"/>
          </a:xfrm>
          <a:prstGeom prst="rect">
            <a:avLst/>
          </a:prstGeom>
          <a:solidFill>
            <a:srgbClr val="3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517136"/>
            <a:ext cx="2743200" cy="142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950" b="1" i="0" dirty="0">
                <a:solidFill>
                  <a:srgbClr val="3A8A8A"/>
                </a:solidFill>
                <a:latin typeface="Arial"/>
              </a:rPr>
              <a:t>ALIGNED WITH OUR CREW’S VISION</a:t>
            </a:r>
            <a:endParaRPr sz="950" b="1" i="0" dirty="0">
              <a:solidFill>
                <a:srgbClr val="3A8A8A"/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" y="4773168"/>
            <a:ext cx="10680192" cy="386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150" b="1" dirty="0">
                <a:solidFill>
                  <a:srgbClr val="2A2E35"/>
                </a:solidFill>
                <a:latin typeface="Arial"/>
              </a:rPr>
              <a:t>To achieve our vision of a stable, high-performance shared ACD Orchestration Platform for onboarding new client calculators, modernization is imperative.</a:t>
            </a:r>
            <a:endParaRPr sz="1150" i="0" dirty="0">
              <a:solidFill>
                <a:srgbClr val="4A5058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1682496"/>
            <a:ext cx="267919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7A8087"/>
                </a:solidFill>
                <a:latin typeface="Arial"/>
              </a:rPr>
              <a:t>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9272" y="1682496"/>
            <a:ext cx="267919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7A8087"/>
                </a:solidFill>
                <a:latin typeface="Arial"/>
              </a:rPr>
              <a:t>SPEED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0488" y="1682496"/>
            <a:ext cx="267919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7A8087"/>
                </a:solidFill>
                <a:latin typeface="Arial"/>
              </a:rPr>
              <a:t>STABILITY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1682496"/>
            <a:ext cx="267919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7A8087"/>
                </a:solidFill>
                <a:latin typeface="Arial"/>
              </a:rPr>
              <a:t>SCALABILITY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3A8A8A"/>
                </a:solidFill>
                <a:latin typeface="Arial"/>
              </a:rPr>
              <a:t>ORCHESTRATION PLATFORM  |  MODERNIZATION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700" b="1" dirty="0">
                <a:solidFill>
                  <a:srgbClr val="2A2E35"/>
                </a:solidFill>
                <a:latin typeface="Arial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01268"/>
            <a:ext cx="11274552" cy="1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7A8087"/>
                </a:solidFill>
                <a:latin typeface="Arial"/>
              </a:rPr>
              <a:t>Phased delivery that protects the deliverables already committed for the period</a:t>
            </a:r>
            <a:endParaRPr sz="1250" b="0" i="0" dirty="0">
              <a:solidFill>
                <a:srgbClr val="7A8087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316736"/>
            <a:ext cx="11274552" cy="18288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51790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3A8A8A"/>
                </a:solidFill>
                <a:latin typeface="Arial"/>
              </a:rPr>
              <a:t>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737360"/>
            <a:ext cx="1188720" cy="329184"/>
          </a:xfrm>
          <a:prstGeom prst="roundRect">
            <a:avLst>
              <a:gd name="adj" fmla="val 14000"/>
            </a:avLst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80594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CFBF9"/>
                </a:solidFill>
                <a:latin typeface="Arial"/>
              </a:rPr>
              <a:t>Q3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12848"/>
            <a:ext cx="3575304" cy="3291840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 w="9525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94944" y="2432304"/>
            <a:ext cx="420624" cy="420624"/>
          </a:xfrm>
          <a:prstGeom prst="ellipse">
            <a:avLst/>
          </a:prstGeom>
          <a:solidFill>
            <a:srgbClr val="3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2519172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CFBF9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99923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A2E35"/>
                </a:solidFill>
                <a:latin typeface="Arial"/>
              </a:rPr>
              <a:t>Event backbone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34670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A6E6E"/>
                </a:solidFill>
                <a:latin typeface="Arial"/>
              </a:rPr>
              <a:t>A fast, resilient event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75887"/>
            <a:ext cx="31089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  Completion checks: 5+ minutes → under a tenth of a second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Outages drain automatically; bad messages are quarantined for replay, never dropped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Indexed event store with a managed retention lifecycle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Everything downstream depends on this landing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151790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3A8A8A"/>
                </a:solidFill>
                <a:latin typeface="Arial"/>
              </a:rPr>
              <a:t>CAPABILITY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3672" y="1737360"/>
            <a:ext cx="1188720" cy="329184"/>
          </a:xfrm>
          <a:prstGeom prst="roundRect">
            <a:avLst>
              <a:gd name="adj" fmla="val 14000"/>
            </a:avLst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33672" y="180594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CFBF9"/>
                </a:solidFill>
                <a:latin typeface="Arial"/>
              </a:rPr>
              <a:t>Q4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15384" y="2212848"/>
            <a:ext cx="3575304" cy="3291840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 w="9525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453128" y="2432304"/>
            <a:ext cx="420624" cy="420624"/>
          </a:xfrm>
          <a:prstGeom prst="ellipse">
            <a:avLst/>
          </a:prstGeom>
          <a:solidFill>
            <a:srgbClr val="3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53128" y="2519172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CFBF9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299923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A2E35"/>
                </a:solidFill>
                <a:latin typeface="Arial"/>
              </a:rPr>
              <a:t>One routing rulebook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334670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A6E6E"/>
                </a:solidFill>
                <a:latin typeface="Arial"/>
              </a:rPr>
              <a:t>One source of truth for what runs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3675887"/>
            <a:ext cx="31089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1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>
                <a:solidFill>
                  <a:srgbClr val="4A5058"/>
                </a:solidFill>
                <a:latin typeface="Arial"/>
              </a:rPr>
              <a:t>~200 wasted scheduler operations per event → 1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1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>
                <a:solidFill>
                  <a:srgbClr val="4A5058"/>
                </a:solidFill>
                <a:latin typeface="Arial"/>
              </a:rPr>
              <a:t>Two routing systems replaced by one versioned, auditable rulebook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1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>
                <a:solidFill>
                  <a:srgbClr val="4A5058"/>
                </a:solidFill>
                <a:latin typeface="Arial"/>
              </a:rPr>
              <a:t>Every routing decision explainable — “why did this not run?” becomes a query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1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>
                <a:solidFill>
                  <a:srgbClr val="4A5058"/>
                </a:solidFill>
                <a:latin typeface="Arial"/>
              </a:rPr>
              <a:t>Portfolio runs: ~10 per reporting date →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1856" y="151790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3A8A8A"/>
                </a:solidFill>
                <a:latin typeface="Arial"/>
              </a:rPr>
              <a:t>PLATFORM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1856" y="1737360"/>
            <a:ext cx="1188720" cy="329184"/>
          </a:xfrm>
          <a:prstGeom prst="roundRect">
            <a:avLst>
              <a:gd name="adj" fmla="val 14000"/>
            </a:avLst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91856" y="180594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CFBF9"/>
                </a:solidFill>
                <a:latin typeface="Arial"/>
              </a:rPr>
              <a:t>Q1 2027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8" y="2212848"/>
            <a:ext cx="3575304" cy="3291840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 w="9525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11312" y="2432304"/>
            <a:ext cx="420624" cy="420624"/>
          </a:xfrm>
          <a:prstGeom prst="ellipse">
            <a:avLst/>
          </a:prstGeom>
          <a:solidFill>
            <a:srgbClr val="3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2" y="2519172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CFBF9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299923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A2E35"/>
                </a:solidFill>
                <a:latin typeface="Arial"/>
              </a:rPr>
              <a:t>Framework + Airflow 3.x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334670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A6E6E"/>
                </a:solidFill>
                <a:latin typeface="Arial"/>
              </a:rPr>
              <a:t>Modern runtime, co-delivered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675887"/>
            <a:ext cx="3108960" cy="17708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One authoring pattern</a:t>
            </a:r>
            <a:r>
              <a:rPr lang="en-US" sz="1100" b="0" i="0" dirty="0">
                <a:solidFill>
                  <a:srgbClr val="4A5058"/>
                </a:solidFill>
                <a:latin typeface="Arial"/>
              </a:rPr>
              <a:t>; simple reusable components</a:t>
            </a:r>
            <a:endParaRPr sz="1100" b="0" i="0" dirty="0">
              <a:solidFill>
                <a:srgbClr val="4A5058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Airflow 3.x delivers out of the box the stability we engineer around today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</a:t>
            </a:r>
            <a:r>
              <a:rPr lang="en-US" sz="1100" dirty="0">
                <a:solidFill>
                  <a:srgbClr val="4A5058"/>
                </a:solidFill>
                <a:latin typeface="Arial"/>
              </a:rPr>
              <a:t>  Built-in throttling controls to protect month-end capacity</a:t>
            </a:r>
            <a:endParaRPr sz="1100" b="0" i="0" dirty="0">
              <a:solidFill>
                <a:srgbClr val="4A5058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Each of the ~</a:t>
            </a:r>
            <a:r>
              <a:rPr lang="en-US" sz="1100" b="0" i="0" dirty="0">
                <a:solidFill>
                  <a:srgbClr val="4A5058"/>
                </a:solidFill>
                <a:latin typeface="Arial"/>
              </a:rPr>
              <a:t>100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 calculators is touched once — new pattern and new runtime together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14416"/>
            <a:ext cx="112745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dirty="0">
                <a:solidFill>
                  <a:srgbClr val="2A6E6E"/>
                </a:solidFill>
                <a:latin typeface="Arial"/>
              </a:rPr>
              <a:t>Why Airflow 3.x is co-delivered:  </a:t>
            </a:r>
            <a:r>
              <a:rPr sz="1000" b="0" i="0" dirty="0">
                <a:solidFill>
                  <a:srgbClr val="7A8087"/>
                </a:solidFill>
                <a:latin typeface="Arial"/>
              </a:rPr>
              <a:t>it is a breaking upgrade that touches every calculator. Pairing it with the framework rewrite means each DAG is migrated once — onto the new pattern and the new runtime in a single change. Runtime preparation begins in Q4 2026, alongside the routing work and ahead of the migration waves.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035040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227064"/>
            <a:ext cx="11274552" cy="157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 dirty="0">
                <a:solidFill>
                  <a:srgbClr val="3A8A8A"/>
                </a:solidFill>
                <a:latin typeface="Arial"/>
              </a:rPr>
              <a:t>Business outcomes  →  </a:t>
            </a:r>
            <a:r>
              <a:rPr sz="1050" b="0" i="0" dirty="0">
                <a:solidFill>
                  <a:srgbClr val="FCFBF9"/>
                </a:solidFill>
                <a:latin typeface="Arial"/>
              </a:rPr>
              <a:t>Faster reporting cycles   ·   Higher reliability on regulatory deadlines   ·   Lower run-cost per event   ·   Fewer production incidents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3A8A8A"/>
                </a:solidFill>
                <a:latin typeface="Arial"/>
              </a:rPr>
              <a:t>ORCHESTRATION PLATFORM  |  MODERNIZATION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2A2E35"/>
                </a:solidFill>
                <a:latin typeface="Arial"/>
              </a:rPr>
              <a:t>Capacity &amp; Parallel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9264"/>
            <a:ext cx="11274552" cy="1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 dirty="0">
                <a:solidFill>
                  <a:srgbClr val="7A8087"/>
                </a:solidFill>
                <a:latin typeface="Arial"/>
              </a:rPr>
              <a:t>The phasing exists so that business-as-usual regulatory delivery </a:t>
            </a:r>
            <a:r>
              <a:rPr lang="en-US" sz="1250" b="0" i="0" dirty="0">
                <a:solidFill>
                  <a:srgbClr val="7A8087"/>
                </a:solidFill>
                <a:latin typeface="Arial"/>
              </a:rPr>
              <a:t>and other key priorities delivered as planned</a:t>
            </a:r>
            <a:r>
              <a:rPr sz="1250" b="0" i="0" dirty="0">
                <a:solidFill>
                  <a:srgbClr val="7A8087"/>
                </a:solidFill>
                <a:latin typeface="Arial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16736"/>
            <a:ext cx="11274552" cy="18288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31720" y="1517904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7A8087"/>
                </a:solidFill>
                <a:latin typeface="Arial"/>
              </a:rPr>
              <a:t>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17904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7A8087"/>
                </a:solidFill>
                <a:latin typeface="Arial"/>
              </a:rPr>
              <a:t>Q4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755648"/>
            <a:ext cx="9144" cy="1572768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59" y="1517904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7A8087"/>
                </a:solidFill>
                <a:latin typeface="Arial"/>
              </a:rPr>
              <a:t>Q1 2027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59" y="1755648"/>
            <a:ext cx="9144" cy="1572768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0" y="1517904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7A8087"/>
                </a:solidFill>
                <a:latin typeface="Arial"/>
              </a:rPr>
              <a:t>Q2 2027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755648"/>
            <a:ext cx="9144" cy="1572768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883664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2A2E35"/>
                </a:solidFill>
                <a:latin typeface="Arial"/>
              </a:rPr>
              <a:t>Event backbone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1828800"/>
            <a:ext cx="3311042" cy="384048"/>
          </a:xfrm>
          <a:prstGeom prst="roundRect">
            <a:avLst>
              <a:gd name="adj" fmla="val 20000"/>
            </a:avLst>
          </a:prstGeom>
          <a:solidFill>
            <a:srgbClr val="3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31720" y="1933956"/>
            <a:ext cx="331104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CFBF9"/>
                </a:solidFill>
                <a:latin typeface="Arial"/>
              </a:rPr>
              <a:t>build · shadow · cutover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1401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2A2E35"/>
                </a:solidFill>
                <a:latin typeface="Arial"/>
              </a:rPr>
              <a:t>Routing rulebook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43246" y="2359152"/>
            <a:ext cx="3380994" cy="384048"/>
          </a:xfrm>
          <a:prstGeom prst="roundRect">
            <a:avLst>
              <a:gd name="adj" fmla="val 20000"/>
            </a:avLst>
          </a:prstGeom>
          <a:solidFill>
            <a:srgbClr val="2A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43246" y="2464308"/>
            <a:ext cx="338099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CFBF9"/>
                </a:solidFill>
                <a:latin typeface="Arial"/>
              </a:rPr>
              <a:t>author · shadow · phased cutover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44368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2A2E35"/>
                </a:solidFill>
                <a:latin typeface="Arial"/>
              </a:rPr>
              <a:t>Framework + Airflow 3.x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5644" y="2889504"/>
            <a:ext cx="4313682" cy="384048"/>
          </a:xfrm>
          <a:prstGeom prst="roundRect">
            <a:avLst>
              <a:gd name="adj" fmla="val 20000"/>
            </a:avLst>
          </a:prstGeom>
          <a:solidFill>
            <a:srgbClr val="5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5644" y="2994660"/>
            <a:ext cx="431368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CFBF9"/>
                </a:solidFill>
                <a:latin typeface="Arial"/>
              </a:rPr>
              <a:t>runtime build · pilot · migration waves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0480"/>
            <a:ext cx="5458968" cy="1700784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 w="9525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04164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3A8A8A"/>
                </a:solidFill>
                <a:latin typeface="Arial"/>
              </a:rPr>
              <a:t>CONTINUES IN PARALLEL, UNINTERRUPTED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70832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Month-end and quarter-end regulatory close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New calculator onboarding, on the existing pattern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Production support and incident response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Regulatory change already committed for the period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4" y="3840480"/>
            <a:ext cx="5458968" cy="1700784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 w="9525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47104" y="404164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3A8A8A"/>
                </a:solidFill>
                <a:latin typeface="Arial"/>
              </a:rPr>
              <a:t>WHAT MAKES THAT POSSIBLE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4370832"/>
            <a:ext cx="5111496" cy="9355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Every change is additive — nothing in use is modified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  </a:t>
            </a:r>
            <a:r>
              <a:rPr lang="en-US" sz="1100" b="0" i="0" dirty="0">
                <a:solidFill>
                  <a:srgbClr val="4A5058"/>
                </a:solidFill>
                <a:latin typeface="Arial"/>
              </a:rPr>
              <a:t>Modernized components are built and tested separately</a:t>
            </a:r>
            <a:endParaRPr sz="1100" b="0" i="0" dirty="0">
              <a:solidFill>
                <a:srgbClr val="4A5058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  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New Airflow runtime built alongside the current one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 dirty="0">
                <a:solidFill>
                  <a:srgbClr val="3A8A8A"/>
                </a:solidFill>
                <a:latin typeface="Arial"/>
              </a:rPr>
              <a:t>•</a:t>
            </a:r>
            <a:r>
              <a:rPr sz="1100" b="0" i="0" dirty="0">
                <a:solidFill>
                  <a:srgbClr val="4A5058"/>
                </a:solidFill>
                <a:latin typeface="Arial"/>
              </a:rPr>
              <a:t>  A tested rollback plan to return to the current platform</a:t>
            </a:r>
            <a:r>
              <a:rPr lang="en-US" sz="1100" b="0" i="0" dirty="0">
                <a:solidFill>
                  <a:srgbClr val="4A5058"/>
                </a:solidFill>
                <a:latin typeface="Arial"/>
              </a:rPr>
              <a:t> incase of migration failure</a:t>
            </a:r>
            <a:endParaRPr sz="1100" b="0" i="0" dirty="0">
              <a:solidFill>
                <a:srgbClr val="4A505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3A8A8A"/>
                </a:solidFill>
                <a:latin typeface="Arial"/>
              </a:rPr>
              <a:t>APPENDIX  |  BASELINE →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2A2E35"/>
                </a:solidFill>
                <a:latin typeface="Arial"/>
              </a:rPr>
              <a:t>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9264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 dirty="0">
                <a:solidFill>
                  <a:srgbClr val="7A8087"/>
                </a:solidFill>
                <a:latin typeface="Arial"/>
              </a:rPr>
              <a:t>Every target below is measurable against a baseline captured before anything changes in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16736"/>
            <a:ext cx="11274552" cy="18288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458612"/>
              </p:ext>
            </p:extLst>
          </p:nvPr>
        </p:nvGraphicFramePr>
        <p:xfrm>
          <a:off x="457200" y="1517904"/>
          <a:ext cx="11274551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CFBF9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109728" marR="109728" marT="54864" marB="54864" anchor="ctr"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CFBF9"/>
                          </a:solidFill>
                          <a:latin typeface="Arial"/>
                        </a:rPr>
                        <a:t>TODAY</a:t>
                      </a:r>
                    </a:p>
                  </a:txBody>
                  <a:tcPr marL="109728" marR="109728" marT="54864" marB="54864" anchor="ctr"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CFBF9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109728" marR="109728" marT="54864" marB="54864" anchor="ctr"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CFBF9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109728" marR="109728" marT="54864" marB="54864" anchor="ctr">
                    <a:solidFill>
                      <a:srgbClr val="2A2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A2E35"/>
                          </a:solidFill>
                          <a:latin typeface="Arial"/>
                        </a:rPr>
                        <a:t>Scheduler operations per event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4A5058"/>
                          </a:solidFill>
                          <a:latin typeface="Arial"/>
                        </a:rPr>
                        <a:t>~50–</a:t>
                      </a:r>
                      <a:r>
                        <a:rPr lang="en-US" sz="1050" b="0" dirty="0">
                          <a:solidFill>
                            <a:srgbClr val="4A5058"/>
                          </a:solidFill>
                          <a:latin typeface="Arial"/>
                        </a:rPr>
                        <a:t>1</a:t>
                      </a:r>
                      <a:r>
                        <a:rPr sz="1050" b="0" dirty="0">
                          <a:solidFill>
                            <a:srgbClr val="4A5058"/>
                          </a:solidFill>
                          <a:latin typeface="Arial"/>
                        </a:rPr>
                        <a:t>00 task instances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4A5058"/>
                          </a:solidFill>
                          <a:latin typeface="Arial"/>
                        </a:rPr>
                        <a:t>&lt; 10</a:t>
                      </a:r>
                      <a:endParaRPr sz="1050" b="0" dirty="0">
                        <a:solidFill>
                          <a:srgbClr val="4A5058"/>
                        </a:solidFill>
                        <a:latin typeface="Arial"/>
                      </a:endParaRP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2A6E6E"/>
                          </a:solidFill>
                          <a:latin typeface="Arial"/>
                        </a:rPr>
                        <a:t>~9</a:t>
                      </a:r>
                      <a:r>
                        <a:rPr lang="en-US" sz="1050" b="1" dirty="0">
                          <a:solidFill>
                            <a:srgbClr val="2A6E6E"/>
                          </a:solidFill>
                          <a:latin typeface="Arial"/>
                        </a:rPr>
                        <a:t>0</a:t>
                      </a:r>
                      <a:r>
                        <a:rPr sz="1050" b="1" dirty="0">
                          <a:solidFill>
                            <a:srgbClr val="2A6E6E"/>
                          </a:solidFill>
                          <a:latin typeface="Arial"/>
                        </a:rPr>
                        <a:t>% reduction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A2E35"/>
                          </a:solidFill>
                          <a:latin typeface="Arial"/>
                        </a:rPr>
                        <a:t>Airflow metadata-DB writes per event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4A5058"/>
                          </a:solidFill>
                          <a:latin typeface="Arial"/>
                        </a:rPr>
                        <a:t>~1</a:t>
                      </a:r>
                      <a:r>
                        <a:rPr lang="en-US" sz="1050" b="0" dirty="0">
                          <a:solidFill>
                            <a:srgbClr val="4A5058"/>
                          </a:solidFill>
                          <a:latin typeface="Arial"/>
                        </a:rPr>
                        <a:t>0</a:t>
                      </a:r>
                      <a:r>
                        <a:rPr sz="1050" b="0" dirty="0">
                          <a:solidFill>
                            <a:srgbClr val="4A5058"/>
                          </a:solidFill>
                          <a:latin typeface="Arial"/>
                        </a:rPr>
                        <a:t>0–</a:t>
                      </a:r>
                      <a:r>
                        <a:rPr lang="en-US" sz="1050" b="0" dirty="0">
                          <a:solidFill>
                            <a:srgbClr val="4A5058"/>
                          </a:solidFill>
                          <a:latin typeface="Arial"/>
                        </a:rPr>
                        <a:t>15</a:t>
                      </a:r>
                      <a:r>
                        <a:rPr sz="1050" b="0" dirty="0">
                          <a:solidFill>
                            <a:srgbClr val="4A5058"/>
                          </a:solidFill>
                          <a:latin typeface="Arial"/>
                        </a:rPr>
                        <a:t>0 state writes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~3–5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2A6E6E"/>
                          </a:solidFill>
                          <a:latin typeface="Arial"/>
                        </a:rPr>
                        <a:t>~9</a:t>
                      </a:r>
                      <a:r>
                        <a:rPr lang="en-US" sz="1050" b="1" dirty="0">
                          <a:solidFill>
                            <a:srgbClr val="2A6E6E"/>
                          </a:solidFill>
                          <a:latin typeface="Arial"/>
                        </a:rPr>
                        <a:t>5</a:t>
                      </a:r>
                      <a:r>
                        <a:rPr sz="1050" b="1" dirty="0">
                          <a:solidFill>
                            <a:srgbClr val="2A6E6E"/>
                          </a:solidFill>
                          <a:latin typeface="Arial"/>
                        </a:rPr>
                        <a:t>% reduction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A2E35"/>
                          </a:solidFill>
                          <a:latin typeface="Arial"/>
                        </a:rPr>
                        <a:t>Event-store query latency (sensor poll)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4A5058"/>
                          </a:solidFill>
                          <a:latin typeface="Arial"/>
                        </a:rPr>
                        <a:t>5</a:t>
                      </a:r>
                      <a:r>
                        <a:rPr sz="1050" b="0" dirty="0">
                          <a:solidFill>
                            <a:srgbClr val="4A5058"/>
                          </a:solidFill>
                          <a:latin typeface="Arial"/>
                        </a:rPr>
                        <a:t>+ minutes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&lt; 50 ms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A6E6E"/>
                          </a:solidFill>
                          <a:latin typeface="Arial"/>
                        </a:rPr>
                        <a:t>&gt; 6,000× faster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A2E35"/>
                          </a:solidFill>
                          <a:latin typeface="Arial"/>
                        </a:rPr>
                        <a:t>Portfolio runs per reporting date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~10 (9 wasted)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A6E6E"/>
                          </a:solidFill>
                          <a:latin typeface="Arial"/>
                        </a:rPr>
                        <a:t>~90% reduction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A2E35"/>
                          </a:solidFill>
                          <a:latin typeface="Arial"/>
                        </a:rPr>
                        <a:t>Sources of routing truth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2 — Scala DB table + Python file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1 versioned registry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A6E6E"/>
                          </a:solidFill>
                          <a:latin typeface="Arial"/>
                        </a:rPr>
                        <a:t>2 → 1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A2E35"/>
                          </a:solidFill>
                          <a:latin typeface="Arial"/>
                        </a:rPr>
                        <a:t>Portfolio fan-in correctness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One lost event blocks the date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Recomputed from the event record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A6E6E"/>
                          </a:solidFill>
                          <a:latin typeface="Arial"/>
                        </a:rPr>
                        <a:t>Fragile → durable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A2E35"/>
                          </a:solidFill>
                          <a:latin typeface="Arial"/>
                        </a:rPr>
                        <a:t>Routing-failure diagnosis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No structured record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Every decision explainable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A6E6E"/>
                          </a:solidFill>
                          <a:latin typeface="Arial"/>
                        </a:rPr>
                        <a:t>Opaque → auditable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A2E35"/>
                          </a:solidFill>
                          <a:latin typeface="Arial"/>
                        </a:rPr>
                        <a:t>Airflow runtime line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2.10.5 — 2.x maintenance line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3.x — current supported line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A6E6E"/>
                          </a:solidFill>
                          <a:latin typeface="Arial"/>
                        </a:rPr>
                        <a:t>Trailing → supported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A2E35"/>
                          </a:solidFill>
                          <a:latin typeface="Arial"/>
                        </a:rPr>
                        <a:t>Tenant isolation at runtime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None — shared execution model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Task isolation + multi-team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2A6E6E"/>
                          </a:solidFill>
                          <a:latin typeface="Arial"/>
                        </a:rPr>
                        <a:t>Shared → isolated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A2E35"/>
                          </a:solidFill>
                          <a:latin typeface="Arial"/>
                        </a:rPr>
                        <a:t>Production incidents from orchestration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Stalls, blocked portfolios, missed triggers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5058"/>
                          </a:solidFill>
                          <a:latin typeface="Arial"/>
                        </a:rPr>
                        <a:t>Those root causes designed out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2A6E6E"/>
                          </a:solidFill>
                          <a:latin typeface="Arial"/>
                        </a:rPr>
                        <a:t>~40% fewer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4639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769</Words>
  <Application>Microsoft Office PowerPoint</Application>
  <PresentationFormat>Widescreen</PresentationFormat>
  <Paragraphs>124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Suryakant Routray</cp:lastModifiedBy>
  <cp:revision>22</cp:revision>
  <dcterms:created xsi:type="dcterms:W3CDTF">2013-01-27T09:14:16Z</dcterms:created>
  <dcterms:modified xsi:type="dcterms:W3CDTF">2026-08-06T01:32:09Z</dcterms:modified>
  <cp:category/>
</cp:coreProperties>
</file>