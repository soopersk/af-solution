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CATALOGUE   ·   ORCHESTRATION   ·   OBSERVABILITY   ·   LINEAGE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Crew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89720" y="804672"/>
            <a:ext cx="2450592" cy="384048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80467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REVIEW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2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ADOPTION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8366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milestones delivered this quarter across the NSFR and PnL calculator estate.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2567635" cy="3364992"/>
          </a:xfrm>
          <a:prstGeom prst="roundRect">
            <a:avLst>
              <a:gd name="adj" fmla="val 284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110435" y="25054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FD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443838" y="2761488"/>
            <a:ext cx="777240" cy="7772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290" y="2948940"/>
            <a:ext cx="402336" cy="40233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4672" y="3767328"/>
            <a:ext cx="20555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NSFR Modular Calculators Automated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804672" y="4544568"/>
            <a:ext cx="2055571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Loans, deposits, debt and other modular calculators now run through fully automated orchestration — no manual scheduling or handoffs.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390595" y="2395728"/>
            <a:ext cx="2567635" cy="3364992"/>
          </a:xfrm>
          <a:prstGeom prst="roundRect">
            <a:avLst>
              <a:gd name="adj" fmla="val 284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952390" y="25054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FD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4285793" y="2761488"/>
            <a:ext cx="777240" cy="7772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245" y="2948940"/>
            <a:ext cx="402336" cy="40233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646627" y="3767328"/>
            <a:ext cx="20555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 Integration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3646627" y="4544568"/>
            <a:ext cx="2055571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NSFR calculator is integrated into the Observability Service, with real-time monitoring, SLA tracking and dashboards out of the box.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32550" y="2395728"/>
            <a:ext cx="2567635" cy="3364992"/>
          </a:xfrm>
          <a:prstGeom prst="roundRect">
            <a:avLst>
              <a:gd name="adj" fmla="val 284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7794346" y="25054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FD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Shape 18"/>
          <p:cNvSpPr/>
          <p:nvPr/>
        </p:nvSpPr>
        <p:spPr>
          <a:xfrm>
            <a:off x="7127748" y="2761488"/>
            <a:ext cx="777240" cy="7772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948940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488582" y="3767328"/>
            <a:ext cx="20555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On-boarding Complete</a:t>
            </a:r>
            <a:endParaRPr lang="en-US" sz="1350" dirty="0"/>
          </a:p>
        </p:txBody>
      </p:sp>
      <p:sp>
        <p:nvSpPr>
          <p:cNvPr id="25" name="Text 20"/>
          <p:cNvSpPr txBox="1"/>
          <p:nvPr/>
        </p:nvSpPr>
        <p:spPr>
          <a:xfrm>
            <a:off x="6488582" y="4544568"/>
            <a:ext cx="2055571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lineage has been on-boarded for all NSFR calculators, giving full traceability from source data through to output.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074506" y="2395728"/>
            <a:ext cx="2567635" cy="3364992"/>
          </a:xfrm>
          <a:prstGeom prst="roundRect">
            <a:avLst>
              <a:gd name="adj" fmla="val 284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10636301" y="25054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FD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Shape 23"/>
          <p:cNvSpPr/>
          <p:nvPr/>
        </p:nvSpPr>
        <p:spPr>
          <a:xfrm>
            <a:off x="9969703" y="2761488"/>
            <a:ext cx="777240" cy="7772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7155" y="2948940"/>
            <a:ext cx="402336" cy="402336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330538" y="3767328"/>
            <a:ext cx="20555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PnL Calculators Live on ACD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9330538" y="4544568"/>
            <a:ext cx="2055571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PnL calculators have been on-boarded to ACD Orchestration, extending the framework’s automation beyond NSFR into P&amp;L.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60533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ctr" indent="0" marL="0">
              <a:buNone/>
            </a:pPr>
            <a:r>
              <a:rPr lang="en-US" sz="13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NSFR and PnL calculator estate now runs on one governed, automated platform.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2026-08-28T01:28:19Z</dcterms:created>
  <dcterms:modified xsi:type="dcterms:W3CDTF">2026-08-28T01:28:19Z</dcterms:modified>
</cp:coreProperties>
</file>